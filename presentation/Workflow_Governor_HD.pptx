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92" y="4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bang Zhu" userId="2637f7ad-a4f3-483f-9702-381d61e2a60f" providerId="ADAL" clId="{02D66F14-DB5E-4C04-A577-7AF9BE8FE49F}"/>
    <pc:docChg chg="modSld">
      <pc:chgData name="Anbang Zhu" userId="2637f7ad-a4f3-483f-9702-381d61e2a60f" providerId="ADAL" clId="{02D66F14-DB5E-4C04-A577-7AF9BE8FE49F}" dt="2026-09-12T21:54:24.044" v="50" actId="1076"/>
      <pc:docMkLst>
        <pc:docMk/>
      </pc:docMkLst>
      <pc:sldChg chg="modSp mod">
        <pc:chgData name="Anbang Zhu" userId="2637f7ad-a4f3-483f-9702-381d61e2a60f" providerId="ADAL" clId="{02D66F14-DB5E-4C04-A577-7AF9BE8FE49F}" dt="2026-09-12T21:54:24.044" v="50" actId="1076"/>
        <pc:sldMkLst>
          <pc:docMk/>
          <pc:sldMk cId="1157547336" sldId="256"/>
        </pc:sldMkLst>
        <pc:spChg chg="mod">
          <ac:chgData name="Anbang Zhu" userId="2637f7ad-a4f3-483f-9702-381d61e2a60f" providerId="ADAL" clId="{02D66F14-DB5E-4C04-A577-7AF9BE8FE49F}" dt="2026-09-12T21:54:14.099" v="48" actId="14100"/>
          <ac:spMkLst>
            <pc:docMk/>
            <pc:sldMk cId="1157547336" sldId="256"/>
            <ac:spMk id="6" creationId="{13BA818F-3529-489D-874E-B5B27A0330F8}"/>
          </ac:spMkLst>
        </pc:spChg>
        <pc:spChg chg="mod">
          <ac:chgData name="Anbang Zhu" userId="2637f7ad-a4f3-483f-9702-381d61e2a60f" providerId="ADAL" clId="{02D66F14-DB5E-4C04-A577-7AF9BE8FE49F}" dt="2026-09-12T21:54:24.044" v="50" actId="1076"/>
          <ac:spMkLst>
            <pc:docMk/>
            <pc:sldMk cId="1157547336" sldId="256"/>
            <ac:spMk id="7" creationId="{740E8ECD-9B3C-4123-B3C7-7FEDFF916C3A}"/>
          </ac:spMkLst>
        </pc:spChg>
        <pc:spChg chg="mod">
          <ac:chgData name="Anbang Zhu" userId="2637f7ad-a4f3-483f-9702-381d61e2a60f" providerId="ADAL" clId="{02D66F14-DB5E-4C04-A577-7AF9BE8FE49F}" dt="2026-09-12T21:53:49.792" v="14" actId="20577"/>
          <ac:spMkLst>
            <pc:docMk/>
            <pc:sldMk cId="1157547336" sldId="256"/>
            <ac:spMk id="19" creationId="{39D1FEE4-FCC6-4BA7-8034-FB15CD5C49B3}"/>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Planning seconds</c:v>
          </c:tx>
          <c:spPr>
            <a:solidFill>
              <a:srgbClr val="06794D"/>
            </a:solidFill>
          </c:spPr>
          <c:invertIfNegative val="1"/>
          <c:dPt>
            <c:idx val="0"/>
            <c:invertIfNegative val="0"/>
            <c:bubble3D val="0"/>
            <c:extLst>
              <c:ext xmlns:c16="http://schemas.microsoft.com/office/drawing/2014/chart" uri="{C3380CC4-5D6E-409C-BE32-E72D297353CC}">
                <c16:uniqueId val="{00000001-F3AD-4B01-96B9-5E81F7DD9000}"/>
              </c:ext>
            </c:extLst>
          </c:dPt>
          <c:dPt>
            <c:idx val="1"/>
            <c:invertIfNegative val="0"/>
            <c:bubble3D val="0"/>
            <c:spPr>
              <a:solidFill>
                <a:srgbClr val="A6BFB0"/>
              </a:solidFill>
            </c:spPr>
            <c:extLst>
              <c:ext xmlns:c16="http://schemas.microsoft.com/office/drawing/2014/chart" uri="{C3380CC4-5D6E-409C-BE32-E72D297353CC}">
                <c16:uniqueId val="{00000003-F3AD-4B01-96B9-5E81F7DD9000}"/>
              </c:ext>
            </c:extLst>
          </c:dPt>
          <c:dLbls>
            <c:spPr>
              <a:noFill/>
              <a:ln>
                <a:noFill/>
              </a:ln>
              <a:effectLst/>
            </c:spPr>
            <c:txPr>
              <a:bodyPr anchorCtr="1"/>
              <a:lstStyle/>
              <a:p>
                <a:pPr>
                  <a:defRPr sz="2400" b="1">
                    <a:solidFill>
                      <a:srgbClr val="143F3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Now</c:v>
                </c:pt>
                <c:pt idx="1">
                  <c:v>Before</c:v>
                </c:pt>
              </c:strCache>
            </c:strRef>
          </c:cat>
          <c:val>
            <c:numRef>
              <c:f>'Chart Data'!$B$2:$B$3</c:f>
              <c:numCache>
                <c:formatCode>0" s"</c:formatCode>
                <c:ptCount val="2"/>
                <c:pt idx="0">
                  <c:v>28.681000000000001</c:v>
                </c:pt>
                <c:pt idx="1">
                  <c:v>93.733999999999995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F3AD-4B01-96B9-5E81F7DD9000}"/>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2100">
                <a:solidFill>
                  <a:srgbClr val="143F35"/>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25"/>
          <c:min val="0"/>
        </c:scaling>
        <c:delete val="0"/>
        <c:axPos val="b"/>
        <c:numFmt formatCode="0&quot; s&quot;" sourceLinked="1"/>
        <c:majorTickMark val="none"/>
        <c:minorTickMark val="none"/>
        <c:tickLblPos val="none"/>
        <c:spPr>
          <a:ln w="0">
            <a:noFill/>
          </a:ln>
        </c:spPr>
        <c:txPr>
          <a:bodyPr anchorCtr="1"/>
          <a:lstStyle/>
          <a:p>
            <a:pPr>
              <a:defRPr>
                <a:solidFill>
                  <a:srgbClr val="666666"/>
                </a:solidFill>
                <a:latin typeface="Arial"/>
                <a:ea typeface="Arial"/>
                <a:cs typeface="Arial"/>
              </a:defRPr>
            </a:pPr>
            <a:endParaRPr lang="en-US"/>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0:00–0:35</a:t>
            </a:r>
          </a:p>
          <a:p>
            <a:r>
              <a:t>This is Workflow Governor, our workbench for business tasks that need both AI analysis and human judgment. Imagine a vendor operations team asking whether a supplier can go live by Friday. The answer sits across several documents. Our workbench turns that question into tasks, keeps the evidence visible and shows where a person still needs to act. I will walk you through that case in the product. These screens recreate our interface with the repository's example case.</a:t>
            </a:r>
          </a:p>
          <a:p>
            <a:r>
              <a:t>Source: https://github.com/tyy-d/workflow-governor/blob/ce0459b/README.md</a:t>
            </a:r>
          </a:p>
          <a:p>
            <a:endParaRPr/>
          </a:p>
          <a:p>
            <a:r>
              <a:t>SCREEN SOURCE: Editable interface reconstruction based on https://github.com/tyy-d/workflow-governor/tree/ce0459b/frontend, rebuilt as native PowerPoint text with an illustrative saved workflow. Case facts come from the repository CASE_001 allowed documents. The screenshots reconstruct the product walkthrough. They do not capture a live model response or a live GB10 session.</a:t>
            </a:r>
          </a:p>
          <a:p>
            <a:r>
              <a:t>Current human assignment and authority verification are not connected in this web path. The human task remains pending. OpenClaw is being integrated and is not the executor of the shown web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0:35–1:15</a:t>
            </a:r>
          </a:p>
          <a:p>
            <a:r>
              <a:t>A user starts with a business goal, then chooses the files the workflow can use. In this case we select the vendor status record, the insurance certificate and the draft purchase order. The important interaction is simple: ask the actual business question and supply the relevant material. The selected files define what the workflow can inspect. The application then asks local Qwen to propose a plan. A user reviews and explicitly approves that plan before execution.</a:t>
            </a:r>
          </a:p>
          <a:p>
            <a:r>
              <a:t>Source: https://github.com/tyy-d/workflow-governor/blob/ce0459b/frontend/src/App.tsx</a:t>
            </a:r>
          </a:p>
          <a:p>
            <a:endParaRPr/>
          </a:p>
          <a:p>
            <a:r>
              <a:t>SCREEN SOURCE: Editable interface reconstruction based on https://github.com/tyy-d/workflow-governor/tree/ce0459b/frontend, rebuilt as native PowerPoint text with an illustrative saved workflow. Case facts come from the repository CASE_001 allowed documents. The screenshots reconstruct the product walkthrough. They do not capture a live model response or a live GB10 session.</a:t>
            </a:r>
          </a:p>
          <a:p>
            <a:r>
              <a:t>Current human assignment and authority verification are not connected in this web path. The human task remains pending. OpenClaw is being integrated and is not the executor of the shown web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1:15–1:55</a:t>
            </a:r>
          </a:p>
          <a:p>
            <a:r>
              <a:t>The proposed work has an order and an executor for each step. Software checks structured facts first. Qwen reads those results and explains what still prevents activation. A human task follows when the remaining decision needs business authority. The final summary waits for its prerequisite. The overview lets us see that order immediately: two tasks have finished, one needs a reviewer and the last is waiting. We can open each task rather than treating the whole process as an opaque chat response.</a:t>
            </a:r>
          </a:p>
          <a:p>
            <a:r>
              <a:t>Source: https://github.com/tyy-d/workflow-governor/blob/ce0459b/src/governor/bridge.py</a:t>
            </a:r>
          </a:p>
          <a:p>
            <a:endParaRPr/>
          </a:p>
          <a:p>
            <a:r>
              <a:t>SCREEN SOURCE: Editable interface reconstruction based on https://github.com/tyy-d/workflow-governor/tree/ce0459b/frontend, rebuilt as native PowerPoint text with an illustrative saved workflow. Case facts come from the repository CASE_001 allowed documents. The screenshots reconstruct the product walkthrough. They do not capture a live model response or a live GB10 session.</a:t>
            </a:r>
          </a:p>
          <a:p>
            <a:r>
              <a:t>Current human assignment and authority verification are not connected in this web path. The human task remains pending. OpenClaw is being integrated and is not the executor of the shown web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1:55–2:35</a:t>
            </a:r>
          </a:p>
          <a:p>
            <a:r>
              <a:t>Here is the analysis in the task drawer. It says the vendor is not ready for activation. The useful part is the explanation: the vendor record is conditional, the insurance has expired and the order is still a draft. Each finding includes a source reference. This example reconstructs the repository case in our current interface. In the GB10 run recorded in the repository, the deterministic task and Qwen task completed, then execution reached a human handoff.</a:t>
            </a:r>
          </a:p>
          <a:p>
            <a:r>
              <a:t>Sources: https://github.com/tyy-d/workflow-governor/blob/ce0459b/PROGRESS.md and https://github.com/tyy-d/workflow-governor/blob/8e39566/tests/integration/test_case001_vertical_slice.py</a:t>
            </a:r>
          </a:p>
          <a:p>
            <a:endParaRPr/>
          </a:p>
          <a:p>
            <a:r>
              <a:t>SCREEN SOURCE: Editable interface reconstruction based on https://github.com/tyy-d/workflow-governor/tree/ce0459b/frontend, rebuilt as native PowerPoint text with an illustrative saved workflow. Case facts come from the repository CASE_001 allowed documents. The screenshots reconstruct the product walkthrough. They do not capture a live model response or a live GB10 session.</a:t>
            </a:r>
          </a:p>
          <a:p>
            <a:r>
              <a:t>Current human assignment and authority verification are not connected in this web path. The human task remains pending. OpenClaw is being integrated and is not the executor of the shown web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2:35–3:20</a:t>
            </a:r>
          </a:p>
          <a:p>
            <a:r>
              <a:t>We can click the insurance reference and open the original evidence at the cited line. The certificate expires on August 31, before the September 9 review. This is the connection we want the user to see: a business finding, then the exact document passage behind it. The workflow preserves the selected evidence so reviewers can check the reasoning later. The date shown here comes directly from the allowed case document.</a:t>
            </a:r>
          </a:p>
          <a:p>
            <a:r>
              <a:t>Sources: https://github.com/tyy-d/workflow-governor/blob/8e39566/tests/integration/test_case001_vertical_slice.py and the CASE_001 authorized insurance certificate.</a:t>
            </a:r>
          </a:p>
          <a:p>
            <a:endParaRPr/>
          </a:p>
          <a:p>
            <a:r>
              <a:t>SCREEN SOURCE: Editable interface reconstruction based on https://github.com/tyy-d/workflow-governor/tree/ce0459b/frontend, rebuilt as native PowerPoint text with an illustrative saved workflow. Case facts come from the repository CASE_001 allowed documents. The screenshots reconstruct the product walkthrough. They do not capture a live model response or a live GB10 session.</a:t>
            </a:r>
          </a:p>
          <a:p>
            <a:r>
              <a:t>Current human assignment and authority verification are not connected in this web path. The human task remains pending. OpenClaw is being integrated and is not the executor of the shown web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3:20–4:10</a:t>
            </a:r>
          </a:p>
          <a:p>
            <a:r>
              <a:t>The remaining decision needs a person. The task explains the objective, why a human is needed and which evidence is available. This is a real waiting state in the current product, not a completed human decision. The backend human module supports reasoned responses and evidence. Connecting trusted operator assignment to this web path is our next integration step. We are also integrating OpenClaw as a tool execution path. Today the deployed web workflow calls local Qwen directly. What this screen demonstrates is that the workflow preserves the unresolved task and its context.</a:t>
            </a:r>
          </a:p>
          <a:p>
            <a:r>
              <a:t>Sources: https://github.com/tyy-d/workflow-governor/blob/ce0459b/README.md and https://github.com/tyy-d/workflow-governor/tree/8e39566/src/workflow_governor/human</a:t>
            </a:r>
          </a:p>
          <a:p>
            <a:endParaRPr/>
          </a:p>
          <a:p>
            <a:r>
              <a:t>SCREEN SOURCE: Editable interface reconstruction based on https://github.com/tyy-d/workflow-governor/tree/ce0459b/frontend, rebuilt as native PowerPoint text with an illustrative saved workflow. Case facts come from the repository CASE_001 allowed documents. The screenshots reconstruct the product walkthrough. They do not capture a live model response or a live GB10 session.</a:t>
            </a:r>
          </a:p>
          <a:p>
            <a:r>
              <a:t>Current human assignment and authority verification are not connected in this web path. The human task remains pending. OpenClaw is being integrated and is not the executor of the shown web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4:10–5:00</a:t>
            </a:r>
          </a:p>
          <a:p>
            <a:r>
              <a:t>The workbench and Qwen run on our Dell GB10. We reduced the planning response by having Qwen return the key decisions while code fills in repeated structure. One comparison with the same two documents went from 93.734 seconds to 28.681 seconds. The deployed API verification took 28.41 seconds. This is a measured example rather than a general latency promise. The task drawer shows where local AI fits in the product. Workflow Governor gives the team an inspectable plan, cited analysis and a visible next step. That is the product we have built and are continuing to connect.</a:t>
            </a:r>
          </a:p>
          <a:p>
            <a:r>
              <a:t>Source: https://github.com/tyy-d/workflow-governor/blob/ce0459b/PLAN_LATENCY_HANDOFF.md. Both comparison requests disabled model thinking. Completion tokens fell from 686 to 213. The recorded local model is Qwen/Qwen3.8-27B-FP8 served as qwen-local.</a:t>
            </a:r>
          </a:p>
          <a:p>
            <a:endParaRPr/>
          </a:p>
          <a:p>
            <a:r>
              <a:t>SCREEN SOURCE: Editable interface reconstruction based on https://github.com/tyy-d/workflow-governor/tree/ce0459b/frontend, rebuilt as native PowerPoint text with an illustrative saved workflow. Case facts come from the repository CASE_001 allowed documents. The screenshots reconstruct the product walkthrough. They do not capture a live model response or a live GB10 session.</a:t>
            </a:r>
          </a:p>
          <a:p>
            <a:r>
              <a:t>Current human assignment and authority verification are not connected in this web path. The human task remains pending. OpenClaw is being integrated and is not the executor of the shown web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3F35"/>
        </a:solidFill>
        <a:effectLst/>
      </p:bgPr>
    </p:bg>
    <p:spTree>
      <p:nvGrpSpPr>
        <p:cNvPr id="1" name=""/>
        <p:cNvGrpSpPr/>
        <p:nvPr/>
      </p:nvGrpSpPr>
      <p:grpSpPr>
        <a:xfrm>
          <a:off x="0" y="0"/>
          <a:ext cx="0" cy="0"/>
          <a:chOff x="0" y="0"/>
          <a:chExt cx="0" cy="0"/>
        </a:xfrm>
      </p:grpSpPr>
      <p:sp>
        <p:nvSpPr>
          <p:cNvPr id="19" name="Workflow Governor">
            <a:extLst>
              <a:ext uri="{FF2B5EF4-FFF2-40B4-BE49-F238E27FC236}">
                <a16:creationId xmlns:a16="http://schemas.microsoft.com/office/drawing/2014/main" id="{39D1FEE4-FCC6-4BA7-8034-FB15CD5C49B3}"/>
              </a:ext>
            </a:extLst>
          </p:cNvPr>
          <p:cNvSpPr>
            <a:spLocks noGrp="1"/>
          </p:cNvSpPr>
          <p:nvPr/>
        </p:nvSpPr>
        <p:spPr>
          <a:xfrm>
            <a:off x="552450" y="1200150"/>
            <a:ext cx="3286125" cy="1466850"/>
          </a:xfrm>
          <a:prstGeom prst="rect">
            <a:avLst/>
          </a:prstGeom>
          <a:noFill/>
          <a:ln w="0">
            <a:noFill/>
          </a:ln>
        </p:spPr>
        <p:txBody>
          <a:bodyPr>
            <a:noAutofit/>
          </a:bodyPr>
          <a:lstStyle/>
          <a:p>
            <a:pPr>
              <a:defRPr sz="4275" b="1">
                <a:solidFill>
                  <a:srgbClr val="FFFFFF"/>
                </a:solidFill>
                <a:latin typeface="Arial"/>
                <a:ea typeface="Arial"/>
                <a:cs typeface="Arial"/>
              </a:defRPr>
            </a:pPr>
            <a:r>
              <a:rPr lang="en-US" sz="4275" b="1" dirty="0">
                <a:solidFill>
                  <a:srgbClr val="FFFFFF"/>
                </a:solidFill>
                <a:latin typeface="Arial"/>
                <a:ea typeface="Arial"/>
                <a:cs typeface="Arial"/>
              </a:rPr>
              <a:t>MAESTAR</a:t>
            </a:r>
            <a:endParaRPr sz="4275" b="1" dirty="0">
              <a:solidFill>
                <a:srgbClr val="FFFFFF"/>
              </a:solidFill>
              <a:latin typeface="Arial"/>
              <a:ea typeface="Arial"/>
              <a:cs typeface="Arial"/>
            </a:endParaRPr>
          </a:p>
        </p:txBody>
      </p:sp>
      <p:sp>
        <p:nvSpPr>
          <p:cNvPr id="2" name="AI work you can inspect">
            <a:extLst>
              <a:ext uri="{FF2B5EF4-FFF2-40B4-BE49-F238E27FC236}">
                <a16:creationId xmlns:a16="http://schemas.microsoft.com/office/drawing/2014/main" id="{BED0825B-8B3A-4212-B35F-71910C6BFF77}"/>
              </a:ext>
            </a:extLst>
          </p:cNvPr>
          <p:cNvSpPr>
            <a:spLocks noGrp="1"/>
          </p:cNvSpPr>
          <p:nvPr/>
        </p:nvSpPr>
        <p:spPr>
          <a:xfrm>
            <a:off x="590550" y="3067050"/>
            <a:ext cx="3000375" cy="1000125"/>
          </a:xfrm>
          <a:prstGeom prst="rect">
            <a:avLst/>
          </a:prstGeom>
          <a:noFill/>
          <a:ln w="0">
            <a:noFill/>
          </a:ln>
        </p:spPr>
        <p:txBody>
          <a:bodyPr>
            <a:noAutofit/>
          </a:bodyPr>
          <a:lstStyle/>
          <a:p>
            <a:pPr>
              <a:defRPr sz="2550" b="0">
                <a:solidFill>
                  <a:srgbClr val="DDEFE4"/>
                </a:solidFill>
                <a:latin typeface="Arial"/>
                <a:ea typeface="Arial"/>
                <a:cs typeface="Arial"/>
              </a:defRPr>
            </a:pPr>
            <a:r>
              <a:rPr sz="2550" b="0">
                <a:solidFill>
                  <a:srgbClr val="DDEFE4"/>
                </a:solidFill>
                <a:latin typeface="Arial"/>
                <a:ea typeface="Arial"/>
                <a:cs typeface="Arial"/>
              </a:rPr>
              <a:t>AI work you</a:t>
            </a:r>
          </a:p>
          <a:p>
            <a:pPr>
              <a:defRPr sz="2550" b="0">
                <a:solidFill>
                  <a:srgbClr val="DDEFE4"/>
                </a:solidFill>
                <a:latin typeface="Arial"/>
                <a:ea typeface="Arial"/>
                <a:cs typeface="Arial"/>
              </a:defRPr>
            </a:pPr>
            <a:r>
              <a:rPr sz="2550" b="0">
                <a:solidFill>
                  <a:srgbClr val="DDEFE4"/>
                </a:solidFill>
                <a:latin typeface="Arial"/>
                <a:ea typeface="Arial"/>
                <a:cs typeface="Arial"/>
              </a:rPr>
              <a:t>can inspect</a:t>
            </a:r>
          </a:p>
        </p:txBody>
      </p:sp>
      <p:sp>
        <p:nvSpPr>
          <p:cNvPr id="3" name="Product walkthrough">
            <a:extLst>
              <a:ext uri="{FF2B5EF4-FFF2-40B4-BE49-F238E27FC236}">
                <a16:creationId xmlns:a16="http://schemas.microsoft.com/office/drawing/2014/main" id="{4C0DE5C8-876F-4223-96EC-8D98CBF3B7CF}"/>
              </a:ext>
            </a:extLst>
          </p:cNvPr>
          <p:cNvSpPr>
            <a:spLocks noGrp="1"/>
          </p:cNvSpPr>
          <p:nvPr/>
        </p:nvSpPr>
        <p:spPr>
          <a:xfrm>
            <a:off x="590550" y="5810250"/>
            <a:ext cx="3095625" cy="428625"/>
          </a:xfrm>
          <a:prstGeom prst="rect">
            <a:avLst/>
          </a:prstGeom>
          <a:noFill/>
          <a:ln w="0">
            <a:noFill/>
          </a:ln>
        </p:spPr>
        <p:txBody>
          <a:bodyPr>
            <a:noAutofit/>
          </a:bodyPr>
          <a:lstStyle/>
          <a:p>
            <a:pPr>
              <a:defRPr sz="1800" b="0">
                <a:solidFill>
                  <a:srgbClr val="DDEFE4"/>
                </a:solidFill>
                <a:latin typeface="Arial"/>
                <a:ea typeface="Arial"/>
                <a:cs typeface="Arial"/>
              </a:defRPr>
            </a:pPr>
            <a:r>
              <a:rPr sz="1800" b="0">
                <a:solidFill>
                  <a:srgbClr val="DDEFE4"/>
                </a:solidFill>
                <a:latin typeface="Arial"/>
                <a:ea typeface="Arial"/>
                <a:cs typeface="Arial"/>
              </a:rPr>
              <a:t>Product walkthrough</a:t>
            </a:r>
          </a:p>
        </p:txBody>
      </p:sp>
      <p:sp>
        <p:nvSpPr>
          <p:cNvPr id="4" name="Interface surface">
            <a:extLst>
              <a:ext uri="{FF2B5EF4-FFF2-40B4-BE49-F238E27FC236}">
                <a16:creationId xmlns:a16="http://schemas.microsoft.com/office/drawing/2014/main" id="{C248E41A-7F95-4814-866A-C92E14C95164}"/>
              </a:ext>
            </a:extLst>
          </p:cNvPr>
          <p:cNvSpPr>
            <a:spLocks noGrp="1"/>
          </p:cNvSpPr>
          <p:nvPr/>
        </p:nvSpPr>
        <p:spPr>
          <a:xfrm>
            <a:off x="4000500" y="609600"/>
            <a:ext cx="7734300" cy="5429250"/>
          </a:xfrm>
          <a:prstGeom prst="roundRect">
            <a:avLst>
              <a:gd name="adj" fmla="val 1404"/>
            </a:avLst>
          </a:prstGeom>
          <a:solidFill>
            <a:srgbClr val="FFFFFF"/>
          </a:solidFill>
          <a:ln w="0">
            <a:noFill/>
          </a:ln>
        </p:spPr>
        <p:txBody>
          <a:bodyPr/>
          <a:lstStyle/>
          <a:p>
            <a:endParaRPr lang="en-US"/>
          </a:p>
        </p:txBody>
      </p:sp>
      <p:sp>
        <p:nvSpPr>
          <p:cNvPr id="5" name="Interface surface">
            <a:extLst>
              <a:ext uri="{FF2B5EF4-FFF2-40B4-BE49-F238E27FC236}">
                <a16:creationId xmlns:a16="http://schemas.microsoft.com/office/drawing/2014/main" id="{4B3BC2A5-A3B1-4419-9B93-276030550C8A}"/>
              </a:ext>
            </a:extLst>
          </p:cNvPr>
          <p:cNvSpPr>
            <a:spLocks noGrp="1"/>
          </p:cNvSpPr>
          <p:nvPr/>
        </p:nvSpPr>
        <p:spPr>
          <a:xfrm>
            <a:off x="4000500" y="609600"/>
            <a:ext cx="7734300" cy="466725"/>
          </a:xfrm>
          <a:prstGeom prst="roundRect">
            <a:avLst>
              <a:gd name="adj" fmla="val 16327"/>
            </a:avLst>
          </a:prstGeom>
          <a:solidFill>
            <a:srgbClr val="F5F6F1"/>
          </a:solidFill>
          <a:ln w="0">
            <a:noFill/>
          </a:ln>
        </p:spPr>
        <p:txBody>
          <a:bodyPr/>
          <a:lstStyle/>
          <a:p>
            <a:endParaRPr lang="en-US"/>
          </a:p>
        </p:txBody>
      </p:sp>
      <p:sp>
        <p:nvSpPr>
          <p:cNvPr id="6" name="Workflow Governor">
            <a:extLst>
              <a:ext uri="{FF2B5EF4-FFF2-40B4-BE49-F238E27FC236}">
                <a16:creationId xmlns:a16="http://schemas.microsoft.com/office/drawing/2014/main" id="{13BA818F-3529-489D-874E-B5B27A0330F8}"/>
              </a:ext>
            </a:extLst>
          </p:cNvPr>
          <p:cNvSpPr>
            <a:spLocks noGrp="1"/>
          </p:cNvSpPr>
          <p:nvPr/>
        </p:nvSpPr>
        <p:spPr>
          <a:xfrm>
            <a:off x="4191000" y="723900"/>
            <a:ext cx="3733800" cy="314325"/>
          </a:xfrm>
          <a:prstGeom prst="rect">
            <a:avLst/>
          </a:prstGeom>
          <a:noFill/>
          <a:ln w="0">
            <a:noFill/>
          </a:ln>
        </p:spPr>
        <p:txBody>
          <a:bodyPr>
            <a:noAutofit/>
          </a:bodyPr>
          <a:lstStyle/>
          <a:p>
            <a:pPr>
              <a:defRPr sz="1725" b="1">
                <a:solidFill>
                  <a:srgbClr val="37352F"/>
                </a:solidFill>
                <a:latin typeface="Arial"/>
                <a:ea typeface="Arial"/>
                <a:cs typeface="Arial"/>
              </a:defRPr>
            </a:pPr>
            <a:r>
              <a:rPr lang="en-US" sz="1725" b="1" dirty="0">
                <a:solidFill>
                  <a:srgbClr val="37352F"/>
                </a:solidFill>
                <a:latin typeface="Arial"/>
                <a:ea typeface="Arial"/>
                <a:cs typeface="Arial"/>
              </a:rPr>
              <a:t>Model Assisted </a:t>
            </a:r>
            <a:r>
              <a:rPr lang="en-US" sz="1725" b="1" dirty="0" err="1">
                <a:solidFill>
                  <a:srgbClr val="37352F"/>
                </a:solidFill>
                <a:latin typeface="Arial"/>
                <a:ea typeface="Arial"/>
                <a:cs typeface="Arial"/>
              </a:rPr>
              <a:t>Enviroment</a:t>
            </a:r>
            <a:r>
              <a:rPr lang="en-US" sz="1725" b="1" dirty="0">
                <a:solidFill>
                  <a:srgbClr val="37352F"/>
                </a:solidFill>
                <a:latin typeface="Arial"/>
                <a:ea typeface="Arial"/>
                <a:cs typeface="Arial"/>
              </a:rPr>
              <a:t> *</a:t>
            </a:r>
            <a:endParaRPr sz="1725" b="1" dirty="0">
              <a:solidFill>
                <a:srgbClr val="37352F"/>
              </a:solidFill>
              <a:latin typeface="Arial"/>
              <a:ea typeface="Arial"/>
              <a:cs typeface="Arial"/>
            </a:endParaRPr>
          </a:p>
        </p:txBody>
      </p:sp>
      <p:sp>
        <p:nvSpPr>
          <p:cNvPr id="7" name="Business overview">
            <a:extLst>
              <a:ext uri="{FF2B5EF4-FFF2-40B4-BE49-F238E27FC236}">
                <a16:creationId xmlns:a16="http://schemas.microsoft.com/office/drawing/2014/main" id="{740E8ECD-9B3C-4123-B3C7-7FEDFF916C3A}"/>
              </a:ext>
            </a:extLst>
          </p:cNvPr>
          <p:cNvSpPr>
            <a:spLocks noGrp="1"/>
          </p:cNvSpPr>
          <p:nvPr/>
        </p:nvSpPr>
        <p:spPr>
          <a:xfrm>
            <a:off x="8401050" y="704850"/>
            <a:ext cx="2857500" cy="285750"/>
          </a:xfrm>
          <a:prstGeom prst="rect">
            <a:avLst/>
          </a:prstGeom>
          <a:noFill/>
          <a:ln w="0">
            <a:noFill/>
          </a:ln>
        </p:spPr>
        <p:txBody>
          <a:bodyPr>
            <a:noAutofit/>
          </a:bodyPr>
          <a:lstStyle/>
          <a:p>
            <a:pPr algn="r">
              <a:defRPr sz="1500" b="0">
                <a:solidFill>
                  <a:srgbClr val="777970"/>
                </a:solidFill>
                <a:latin typeface="Arial"/>
                <a:ea typeface="Arial"/>
                <a:cs typeface="Arial"/>
              </a:defRPr>
            </a:pPr>
            <a:r>
              <a:rPr sz="1500" b="0" dirty="0">
                <a:solidFill>
                  <a:srgbClr val="777970"/>
                </a:solidFill>
                <a:latin typeface="Arial"/>
                <a:ea typeface="Arial"/>
                <a:cs typeface="Arial"/>
              </a:rPr>
              <a:t>Business overview</a:t>
            </a:r>
          </a:p>
        </p:txBody>
      </p:sp>
      <p:sp>
        <p:nvSpPr>
          <p:cNvPr id="8" name="Overview">
            <a:extLst>
              <a:ext uri="{FF2B5EF4-FFF2-40B4-BE49-F238E27FC236}">
                <a16:creationId xmlns:a16="http://schemas.microsoft.com/office/drawing/2014/main" id="{BFD0A77C-F087-46EF-861A-500DC6C01C1F}"/>
              </a:ext>
            </a:extLst>
          </p:cNvPr>
          <p:cNvSpPr>
            <a:spLocks noGrp="1"/>
          </p:cNvSpPr>
          <p:nvPr/>
        </p:nvSpPr>
        <p:spPr>
          <a:xfrm>
            <a:off x="4286250" y="1333500"/>
            <a:ext cx="7143750" cy="495300"/>
          </a:xfrm>
          <a:prstGeom prst="rect">
            <a:avLst/>
          </a:prstGeom>
          <a:noFill/>
          <a:ln w="0">
            <a:noFill/>
          </a:ln>
        </p:spPr>
        <p:txBody>
          <a:bodyPr>
            <a:noAutofit/>
          </a:bodyPr>
          <a:lstStyle/>
          <a:p>
            <a:pPr>
              <a:defRPr sz="2550" b="1">
                <a:solidFill>
                  <a:srgbClr val="37352F"/>
                </a:solidFill>
                <a:latin typeface="Arial"/>
                <a:ea typeface="Arial"/>
                <a:cs typeface="Arial"/>
              </a:defRPr>
            </a:pPr>
            <a:r>
              <a:rPr sz="2550" b="1">
                <a:solidFill>
                  <a:srgbClr val="37352F"/>
                </a:solidFill>
                <a:latin typeface="Arial"/>
                <a:ea typeface="Arial"/>
                <a:cs typeface="Arial"/>
              </a:rPr>
              <a:t>Overview</a:t>
            </a:r>
          </a:p>
        </p:txBody>
      </p:sp>
      <p:sp>
        <p:nvSpPr>
          <p:cNvPr id="9" name="Harbor Finch launch">
            <a:extLst>
              <a:ext uri="{FF2B5EF4-FFF2-40B4-BE49-F238E27FC236}">
                <a16:creationId xmlns:a16="http://schemas.microsoft.com/office/drawing/2014/main" id="{F05A4AD9-7B74-43B7-956A-5592DC8E7793}"/>
              </a:ext>
            </a:extLst>
          </p:cNvPr>
          <p:cNvSpPr>
            <a:spLocks noGrp="1"/>
          </p:cNvSpPr>
          <p:nvPr/>
        </p:nvSpPr>
        <p:spPr>
          <a:xfrm>
            <a:off x="4286250" y="1952625"/>
            <a:ext cx="7143750" cy="409575"/>
          </a:xfrm>
          <a:prstGeom prst="rect">
            <a:avLst/>
          </a:prstGeom>
          <a:noFill/>
          <a:ln w="0">
            <a:noFill/>
          </a:ln>
        </p:spPr>
        <p:txBody>
          <a:bodyPr>
            <a:noAutofit/>
          </a:bodyPr>
          <a:lstStyle/>
          <a:p>
            <a:pPr>
              <a:defRPr sz="2025" b="1">
                <a:solidFill>
                  <a:srgbClr val="37352F"/>
                </a:solidFill>
                <a:latin typeface="Arial"/>
                <a:ea typeface="Arial"/>
                <a:cs typeface="Arial"/>
              </a:defRPr>
            </a:pPr>
            <a:r>
              <a:rPr sz="2025" b="1">
                <a:solidFill>
                  <a:srgbClr val="37352F"/>
                </a:solidFill>
                <a:latin typeface="Arial"/>
                <a:ea typeface="Arial"/>
                <a:cs typeface="Arial"/>
              </a:rPr>
              <a:t>Harbor Finch launch</a:t>
            </a:r>
          </a:p>
        </p:txBody>
      </p:sp>
      <p:sp>
        <p:nvSpPr>
          <p:cNvPr id="10" name="Can this vendor go live by Friday?">
            <a:extLst>
              <a:ext uri="{FF2B5EF4-FFF2-40B4-BE49-F238E27FC236}">
                <a16:creationId xmlns:a16="http://schemas.microsoft.com/office/drawing/2014/main" id="{8B1FE663-7683-415E-9B31-2510879605EC}"/>
              </a:ext>
            </a:extLst>
          </p:cNvPr>
          <p:cNvSpPr>
            <a:spLocks noGrp="1"/>
          </p:cNvSpPr>
          <p:nvPr/>
        </p:nvSpPr>
        <p:spPr>
          <a:xfrm>
            <a:off x="4286250" y="2419350"/>
            <a:ext cx="7143750" cy="342900"/>
          </a:xfrm>
          <a:prstGeom prst="rect">
            <a:avLst/>
          </a:prstGeom>
          <a:noFill/>
          <a:ln w="0">
            <a:noFill/>
          </a:ln>
        </p:spPr>
        <p:txBody>
          <a:bodyPr>
            <a:noAutofit/>
          </a:bodyPr>
          <a:lstStyle/>
          <a:p>
            <a:pPr>
              <a:defRPr sz="1725" b="0">
                <a:solidFill>
                  <a:srgbClr val="37352F"/>
                </a:solidFill>
                <a:latin typeface="Arial"/>
                <a:ea typeface="Arial"/>
                <a:cs typeface="Arial"/>
              </a:defRPr>
            </a:pPr>
            <a:r>
              <a:rPr sz="1725" b="0">
                <a:solidFill>
                  <a:srgbClr val="37352F"/>
                </a:solidFill>
                <a:latin typeface="Arial"/>
                <a:ea typeface="Arial"/>
                <a:cs typeface="Arial"/>
              </a:rPr>
              <a:t>Can this vendor go live by Friday?</a:t>
            </a:r>
          </a:p>
        </p:txBody>
      </p:sp>
      <p:sp>
        <p:nvSpPr>
          <p:cNvPr id="11" name="2 / 4 tasks complete">
            <a:extLst>
              <a:ext uri="{FF2B5EF4-FFF2-40B4-BE49-F238E27FC236}">
                <a16:creationId xmlns:a16="http://schemas.microsoft.com/office/drawing/2014/main" id="{CB9D9D5B-EF83-4299-8742-BA1D1612F0C9}"/>
              </a:ext>
            </a:extLst>
          </p:cNvPr>
          <p:cNvSpPr>
            <a:spLocks noGrp="1"/>
          </p:cNvSpPr>
          <p:nvPr/>
        </p:nvSpPr>
        <p:spPr>
          <a:xfrm>
            <a:off x="4286250" y="3019425"/>
            <a:ext cx="3333750" cy="333375"/>
          </a:xfrm>
          <a:prstGeom prst="rect">
            <a:avLst/>
          </a:prstGeom>
          <a:noFill/>
          <a:ln w="0">
            <a:noFill/>
          </a:ln>
        </p:spPr>
        <p:txBody>
          <a:bodyPr>
            <a:noAutofit/>
          </a:bodyPr>
          <a:lstStyle/>
          <a:p>
            <a:pPr>
              <a:defRPr sz="1650" b="0">
                <a:solidFill>
                  <a:srgbClr val="78967C"/>
                </a:solidFill>
                <a:latin typeface="Arial"/>
                <a:ea typeface="Arial"/>
                <a:cs typeface="Arial"/>
              </a:defRPr>
            </a:pPr>
            <a:r>
              <a:rPr sz="1650" b="0">
                <a:solidFill>
                  <a:srgbClr val="78967C"/>
                </a:solidFill>
                <a:latin typeface="Arial"/>
                <a:ea typeface="Arial"/>
                <a:cs typeface="Arial"/>
              </a:rPr>
              <a:t>2 / 4 tasks complete</a:t>
            </a:r>
          </a:p>
        </p:txBody>
      </p:sp>
      <p:sp>
        <p:nvSpPr>
          <p:cNvPr id="12" name="3 sources">
            <a:extLst>
              <a:ext uri="{FF2B5EF4-FFF2-40B4-BE49-F238E27FC236}">
                <a16:creationId xmlns:a16="http://schemas.microsoft.com/office/drawing/2014/main" id="{C988A3EB-DB32-4503-8E5E-F91093784D46}"/>
              </a:ext>
            </a:extLst>
          </p:cNvPr>
          <p:cNvSpPr>
            <a:spLocks noGrp="1"/>
          </p:cNvSpPr>
          <p:nvPr/>
        </p:nvSpPr>
        <p:spPr>
          <a:xfrm>
            <a:off x="7924800" y="3019425"/>
            <a:ext cx="1666875" cy="333375"/>
          </a:xfrm>
          <a:prstGeom prst="rect">
            <a:avLst/>
          </a:prstGeom>
          <a:noFill/>
          <a:ln w="0">
            <a:noFill/>
          </a:ln>
        </p:spPr>
        <p:txBody>
          <a:bodyPr>
            <a:noAutofit/>
          </a:bodyPr>
          <a:lstStyle/>
          <a:p>
            <a:pPr>
              <a:defRPr sz="1650" b="0">
                <a:solidFill>
                  <a:srgbClr val="37352F"/>
                </a:solidFill>
                <a:latin typeface="Arial"/>
                <a:ea typeface="Arial"/>
                <a:cs typeface="Arial"/>
              </a:defRPr>
            </a:pPr>
            <a:r>
              <a:rPr sz="1650" b="0">
                <a:solidFill>
                  <a:srgbClr val="37352F"/>
                </a:solidFill>
                <a:latin typeface="Arial"/>
                <a:ea typeface="Arial"/>
                <a:cs typeface="Arial"/>
              </a:rPr>
              <a:t>3 sources</a:t>
            </a:r>
          </a:p>
        </p:txBody>
      </p:sp>
      <p:sp>
        <p:nvSpPr>
          <p:cNvPr id="13" name="3 findings">
            <a:extLst>
              <a:ext uri="{FF2B5EF4-FFF2-40B4-BE49-F238E27FC236}">
                <a16:creationId xmlns:a16="http://schemas.microsoft.com/office/drawing/2014/main" id="{7BF1FA92-EA68-41DD-8FDE-C7CCBBC972EB}"/>
              </a:ext>
            </a:extLst>
          </p:cNvPr>
          <p:cNvSpPr>
            <a:spLocks noGrp="1"/>
          </p:cNvSpPr>
          <p:nvPr/>
        </p:nvSpPr>
        <p:spPr>
          <a:xfrm>
            <a:off x="9810750" y="3019425"/>
            <a:ext cx="1619250" cy="333375"/>
          </a:xfrm>
          <a:prstGeom prst="rect">
            <a:avLst/>
          </a:prstGeom>
          <a:noFill/>
          <a:ln w="0">
            <a:noFill/>
          </a:ln>
        </p:spPr>
        <p:txBody>
          <a:bodyPr>
            <a:noAutofit/>
          </a:bodyPr>
          <a:lstStyle/>
          <a:p>
            <a:pPr>
              <a:defRPr sz="1650" b="0">
                <a:solidFill>
                  <a:srgbClr val="37352F"/>
                </a:solidFill>
                <a:latin typeface="Arial"/>
                <a:ea typeface="Arial"/>
                <a:cs typeface="Arial"/>
              </a:defRPr>
            </a:pPr>
            <a:r>
              <a:rPr sz="1650" b="0">
                <a:solidFill>
                  <a:srgbClr val="37352F"/>
                </a:solidFill>
                <a:latin typeface="Arial"/>
                <a:ea typeface="Arial"/>
                <a:cs typeface="Arial"/>
              </a:rPr>
              <a:t>3 findings</a:t>
            </a:r>
          </a:p>
        </p:txBody>
      </p:sp>
      <p:sp>
        <p:nvSpPr>
          <p:cNvPr id="14" name="Interface surface">
            <a:extLst>
              <a:ext uri="{FF2B5EF4-FFF2-40B4-BE49-F238E27FC236}">
                <a16:creationId xmlns:a16="http://schemas.microsoft.com/office/drawing/2014/main" id="{32BA3942-D2B7-4CBC-ACD8-5C7BA71B320A}"/>
              </a:ext>
            </a:extLst>
          </p:cNvPr>
          <p:cNvSpPr>
            <a:spLocks noGrp="1"/>
          </p:cNvSpPr>
          <p:nvPr/>
        </p:nvSpPr>
        <p:spPr>
          <a:xfrm>
            <a:off x="4267200" y="3619500"/>
            <a:ext cx="7200900" cy="2028825"/>
          </a:xfrm>
          <a:prstGeom prst="roundRect">
            <a:avLst>
              <a:gd name="adj" fmla="val 3756"/>
            </a:avLst>
          </a:prstGeom>
          <a:solidFill>
            <a:srgbClr val="F7F9F5"/>
          </a:solidFill>
          <a:ln w="9525">
            <a:solidFill>
              <a:srgbClr val="E5E7E1"/>
            </a:solidFill>
          </a:ln>
        </p:spPr>
        <p:txBody>
          <a:bodyPr/>
          <a:lstStyle/>
          <a:p>
            <a:endParaRPr lang="en-US"/>
          </a:p>
        </p:txBody>
      </p:sp>
      <p:sp>
        <p:nvSpPr>
          <p:cNvPr id="15" name="Key findings">
            <a:extLst>
              <a:ext uri="{FF2B5EF4-FFF2-40B4-BE49-F238E27FC236}">
                <a16:creationId xmlns:a16="http://schemas.microsoft.com/office/drawing/2014/main" id="{C04C905F-3309-4BFB-8E42-02DFB35A6CB0}"/>
              </a:ext>
            </a:extLst>
          </p:cNvPr>
          <p:cNvSpPr>
            <a:spLocks noGrp="1"/>
          </p:cNvSpPr>
          <p:nvPr/>
        </p:nvSpPr>
        <p:spPr>
          <a:xfrm>
            <a:off x="4429125" y="3733800"/>
            <a:ext cx="6762750" cy="371475"/>
          </a:xfrm>
          <a:prstGeom prst="rect">
            <a:avLst/>
          </a:prstGeom>
          <a:noFill/>
          <a:ln w="0">
            <a:noFill/>
          </a:ln>
        </p:spPr>
        <p:txBody>
          <a:bodyPr>
            <a:noAutofit/>
          </a:bodyPr>
          <a:lstStyle/>
          <a:p>
            <a:pPr>
              <a:defRPr sz="1725" b="1">
                <a:solidFill>
                  <a:srgbClr val="37352F"/>
                </a:solidFill>
                <a:latin typeface="Arial"/>
                <a:ea typeface="Arial"/>
                <a:cs typeface="Arial"/>
              </a:defRPr>
            </a:pPr>
            <a:r>
              <a:rPr sz="1725" b="1">
                <a:solidFill>
                  <a:srgbClr val="37352F"/>
                </a:solidFill>
                <a:latin typeface="Arial"/>
                <a:ea typeface="Arial"/>
                <a:cs typeface="Arial"/>
              </a:rPr>
              <a:t>Key findings</a:t>
            </a:r>
          </a:p>
        </p:txBody>
      </p:sp>
      <p:sp>
        <p:nvSpPr>
          <p:cNvPr id="16" name="Harbor Finch is not ready for activation.">
            <a:extLst>
              <a:ext uri="{FF2B5EF4-FFF2-40B4-BE49-F238E27FC236}">
                <a16:creationId xmlns:a16="http://schemas.microsoft.com/office/drawing/2014/main" id="{8D1F282D-5128-4B48-BDCB-1F4192F6FA6C}"/>
              </a:ext>
            </a:extLst>
          </p:cNvPr>
          <p:cNvSpPr>
            <a:spLocks noGrp="1"/>
          </p:cNvSpPr>
          <p:nvPr/>
        </p:nvSpPr>
        <p:spPr>
          <a:xfrm>
            <a:off x="4429125" y="4229100"/>
            <a:ext cx="6762750" cy="400050"/>
          </a:xfrm>
          <a:prstGeom prst="rect">
            <a:avLst/>
          </a:prstGeom>
          <a:noFill/>
          <a:ln w="0">
            <a:noFill/>
          </a:ln>
        </p:spPr>
        <p:txBody>
          <a:bodyPr>
            <a:noAutofit/>
          </a:bodyPr>
          <a:lstStyle/>
          <a:p>
            <a:pPr>
              <a:defRPr sz="1875" b="1">
                <a:solidFill>
                  <a:srgbClr val="37352F"/>
                </a:solidFill>
                <a:latin typeface="Arial"/>
                <a:ea typeface="Arial"/>
                <a:cs typeface="Arial"/>
              </a:defRPr>
            </a:pPr>
            <a:r>
              <a:rPr sz="1875" b="1">
                <a:solidFill>
                  <a:srgbClr val="37352F"/>
                </a:solidFill>
                <a:latin typeface="Arial"/>
                <a:ea typeface="Arial"/>
                <a:cs typeface="Arial"/>
              </a:rPr>
              <a:t>Harbor Finch is not ready for activation.</a:t>
            </a:r>
          </a:p>
        </p:txBody>
      </p:sp>
      <p:sp>
        <p:nvSpPr>
          <p:cNvPr id="17" name="Insurance expired before the review date.">
            <a:extLst>
              <a:ext uri="{FF2B5EF4-FFF2-40B4-BE49-F238E27FC236}">
                <a16:creationId xmlns:a16="http://schemas.microsoft.com/office/drawing/2014/main" id="{2459EDBD-1A45-471B-9A97-3F89D1D1FF32}"/>
              </a:ext>
            </a:extLst>
          </p:cNvPr>
          <p:cNvSpPr>
            <a:spLocks noGrp="1"/>
          </p:cNvSpPr>
          <p:nvPr/>
        </p:nvSpPr>
        <p:spPr>
          <a:xfrm>
            <a:off x="4429125" y="4724400"/>
            <a:ext cx="6762750" cy="352425"/>
          </a:xfrm>
          <a:prstGeom prst="rect">
            <a:avLst/>
          </a:prstGeom>
          <a:noFill/>
          <a:ln w="0">
            <a:noFill/>
          </a:ln>
        </p:spPr>
        <p:txBody>
          <a:bodyPr>
            <a:noAutofit/>
          </a:bodyPr>
          <a:lstStyle/>
          <a:p>
            <a:pPr>
              <a:defRPr sz="1650" b="0">
                <a:solidFill>
                  <a:srgbClr val="37352F"/>
                </a:solidFill>
                <a:latin typeface="Arial"/>
                <a:ea typeface="Arial"/>
                <a:cs typeface="Arial"/>
              </a:defRPr>
            </a:pPr>
            <a:r>
              <a:rPr sz="1650" b="0">
                <a:solidFill>
                  <a:srgbClr val="37352F"/>
                </a:solidFill>
                <a:latin typeface="Arial"/>
                <a:ea typeface="Arial"/>
                <a:cs typeface="Arial"/>
              </a:rPr>
              <a:t>Insurance expired before the review date.</a:t>
            </a:r>
          </a:p>
        </p:txBody>
      </p:sp>
      <p:sp>
        <p:nvSpPr>
          <p:cNvPr id="18" name="Human review needed">
            <a:extLst>
              <a:ext uri="{FF2B5EF4-FFF2-40B4-BE49-F238E27FC236}">
                <a16:creationId xmlns:a16="http://schemas.microsoft.com/office/drawing/2014/main" id="{383724CD-A0B6-44AD-9C4A-0C2D2CF9A3DD}"/>
              </a:ext>
            </a:extLst>
          </p:cNvPr>
          <p:cNvSpPr>
            <a:spLocks noGrp="1"/>
          </p:cNvSpPr>
          <p:nvPr/>
        </p:nvSpPr>
        <p:spPr>
          <a:xfrm>
            <a:off x="4429125" y="5191125"/>
            <a:ext cx="6762750" cy="352425"/>
          </a:xfrm>
          <a:prstGeom prst="rect">
            <a:avLst/>
          </a:prstGeom>
          <a:noFill/>
          <a:ln w="0">
            <a:noFill/>
          </a:ln>
        </p:spPr>
        <p:txBody>
          <a:bodyPr>
            <a:noAutofit/>
          </a:bodyPr>
          <a:lstStyle/>
          <a:p>
            <a:pPr>
              <a:defRPr sz="1650" b="0">
                <a:solidFill>
                  <a:srgbClr val="AD8B4C"/>
                </a:solidFill>
                <a:latin typeface="Arial"/>
                <a:ea typeface="Arial"/>
                <a:cs typeface="Arial"/>
              </a:defRPr>
            </a:pPr>
            <a:r>
              <a:rPr sz="1650" b="0">
                <a:solidFill>
                  <a:srgbClr val="AD8B4C"/>
                </a:solidFill>
                <a:latin typeface="Arial"/>
                <a:ea typeface="Arial"/>
                <a:cs typeface="Arial"/>
              </a:rPr>
              <a:t>Human review needed</a:t>
            </a:r>
          </a:p>
        </p:txBody>
      </p:sp>
    </p:spTree>
    <p:extLst>
      <p:ext uri="{BB962C8B-B14F-4D97-AF65-F5344CB8AC3E}">
        <p14:creationId xmlns:p14="http://schemas.microsoft.com/office/powerpoint/2010/main" val="1157547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19" name="A business question, with its files">
            <a:extLst>
              <a:ext uri="{FF2B5EF4-FFF2-40B4-BE49-F238E27FC236}">
                <a16:creationId xmlns:a16="http://schemas.microsoft.com/office/drawing/2014/main" id="{1FFA5635-41D9-4980-9839-2CCBBC8E3242}"/>
              </a:ext>
            </a:extLst>
          </p:cNvPr>
          <p:cNvSpPr>
            <a:spLocks noGrp="1"/>
          </p:cNvSpPr>
          <p:nvPr/>
        </p:nvSpPr>
        <p:spPr>
          <a:xfrm>
            <a:off x="647700" y="419100"/>
            <a:ext cx="10953750" cy="742950"/>
          </a:xfrm>
          <a:prstGeom prst="rect">
            <a:avLst/>
          </a:prstGeom>
          <a:noFill/>
          <a:ln w="0">
            <a:noFill/>
          </a:ln>
        </p:spPr>
        <p:txBody>
          <a:bodyPr>
            <a:noAutofit/>
          </a:bodyPr>
          <a:lstStyle/>
          <a:p>
            <a:pPr>
              <a:defRPr sz="3675" b="1">
                <a:solidFill>
                  <a:srgbClr val="143F35"/>
                </a:solidFill>
                <a:latin typeface="Arial"/>
                <a:ea typeface="Arial"/>
                <a:cs typeface="Arial"/>
              </a:defRPr>
            </a:pPr>
            <a:r>
              <a:rPr sz="3675" b="1">
                <a:solidFill>
                  <a:srgbClr val="143F35"/>
                </a:solidFill>
                <a:latin typeface="Arial"/>
                <a:ea typeface="Arial"/>
                <a:cs typeface="Arial"/>
              </a:rPr>
              <a:t>A business question, with its files</a:t>
            </a:r>
          </a:p>
        </p:txBody>
      </p:sp>
      <p:sp>
        <p:nvSpPr>
          <p:cNvPr id="2" name="Interface surface">
            <a:extLst>
              <a:ext uri="{FF2B5EF4-FFF2-40B4-BE49-F238E27FC236}">
                <a16:creationId xmlns:a16="http://schemas.microsoft.com/office/drawing/2014/main" id="{FD361CC9-A4FF-4B11-AA1B-01AC6BD7A7F7}"/>
              </a:ext>
            </a:extLst>
          </p:cNvPr>
          <p:cNvSpPr>
            <a:spLocks noGrp="1"/>
          </p:cNvSpPr>
          <p:nvPr/>
        </p:nvSpPr>
        <p:spPr>
          <a:xfrm>
            <a:off x="1143000" y="1524000"/>
            <a:ext cx="9906000" cy="1962150"/>
          </a:xfrm>
          <a:prstGeom prst="roundRect">
            <a:avLst>
              <a:gd name="adj" fmla="val 3883"/>
            </a:avLst>
          </a:prstGeom>
          <a:solidFill>
            <a:srgbClr val="FFFFFF"/>
          </a:solidFill>
          <a:ln w="0">
            <a:noFill/>
          </a:ln>
        </p:spPr>
        <p:txBody>
          <a:bodyPr/>
          <a:lstStyle/>
          <a:p>
            <a:endParaRPr lang="en-US"/>
          </a:p>
        </p:txBody>
      </p:sp>
      <p:sp>
        <p:nvSpPr>
          <p:cNvPr id="3" name="Goal">
            <a:extLst>
              <a:ext uri="{FF2B5EF4-FFF2-40B4-BE49-F238E27FC236}">
                <a16:creationId xmlns:a16="http://schemas.microsoft.com/office/drawing/2014/main" id="{2EC0C384-6020-451C-B412-23CE7022EAAC}"/>
              </a:ext>
            </a:extLst>
          </p:cNvPr>
          <p:cNvSpPr>
            <a:spLocks noGrp="1"/>
          </p:cNvSpPr>
          <p:nvPr/>
        </p:nvSpPr>
        <p:spPr>
          <a:xfrm>
            <a:off x="1381125" y="1657350"/>
            <a:ext cx="9429750" cy="323850"/>
          </a:xfrm>
          <a:prstGeom prst="rect">
            <a:avLst/>
          </a:prstGeom>
          <a:noFill/>
          <a:ln w="0">
            <a:noFill/>
          </a:ln>
        </p:spPr>
        <p:txBody>
          <a:bodyPr>
            <a:noAutofit/>
          </a:bodyPr>
          <a:lstStyle/>
          <a:p>
            <a:pPr>
              <a:defRPr sz="1725" b="0">
                <a:solidFill>
                  <a:srgbClr val="777970"/>
                </a:solidFill>
                <a:latin typeface="Arial"/>
                <a:ea typeface="Arial"/>
                <a:cs typeface="Arial"/>
              </a:defRPr>
            </a:pPr>
            <a:r>
              <a:rPr sz="1725" b="0">
                <a:solidFill>
                  <a:srgbClr val="777970"/>
                </a:solidFill>
                <a:latin typeface="Arial"/>
                <a:ea typeface="Arial"/>
                <a:cs typeface="Arial"/>
              </a:rPr>
              <a:t>Goal</a:t>
            </a:r>
          </a:p>
        </p:txBody>
      </p:sp>
      <p:sp>
        <p:nvSpPr>
          <p:cNvPr id="4" name="Interface surface">
            <a:extLst>
              <a:ext uri="{FF2B5EF4-FFF2-40B4-BE49-F238E27FC236}">
                <a16:creationId xmlns:a16="http://schemas.microsoft.com/office/drawing/2014/main" id="{8CC0C3FE-7B7F-4B13-8CF0-640C50D8DBB3}"/>
              </a:ext>
            </a:extLst>
          </p:cNvPr>
          <p:cNvSpPr>
            <a:spLocks noGrp="1"/>
          </p:cNvSpPr>
          <p:nvPr/>
        </p:nvSpPr>
        <p:spPr>
          <a:xfrm>
            <a:off x="1381125" y="2057400"/>
            <a:ext cx="9429750" cy="1247775"/>
          </a:xfrm>
          <a:prstGeom prst="roundRect">
            <a:avLst>
              <a:gd name="adj" fmla="val 6107"/>
            </a:avLst>
          </a:prstGeom>
          <a:solidFill>
            <a:srgbClr val="FFFFFF"/>
          </a:solidFill>
          <a:ln w="9525">
            <a:solidFill>
              <a:srgbClr val="E5E7E1"/>
            </a:solidFill>
          </a:ln>
        </p:spPr>
        <p:txBody>
          <a:bodyPr/>
          <a:lstStyle/>
          <a:p>
            <a:endParaRPr lang="en-US"/>
          </a:p>
        </p:txBody>
      </p:sp>
      <p:sp>
        <p:nvSpPr>
          <p:cNvPr id="5" name="Can this vendor go live by Friday?">
            <a:extLst>
              <a:ext uri="{FF2B5EF4-FFF2-40B4-BE49-F238E27FC236}">
                <a16:creationId xmlns:a16="http://schemas.microsoft.com/office/drawing/2014/main" id="{625E6190-DF95-4A69-9756-C989991FF564}"/>
              </a:ext>
            </a:extLst>
          </p:cNvPr>
          <p:cNvSpPr>
            <a:spLocks noGrp="1"/>
          </p:cNvSpPr>
          <p:nvPr/>
        </p:nvSpPr>
        <p:spPr>
          <a:xfrm>
            <a:off x="1552575" y="2238375"/>
            <a:ext cx="9067800" cy="628650"/>
          </a:xfrm>
          <a:prstGeom prst="rect">
            <a:avLst/>
          </a:prstGeom>
          <a:noFill/>
          <a:ln w="0">
            <a:noFill/>
          </a:ln>
        </p:spPr>
        <p:txBody>
          <a:bodyPr>
            <a:noAutofit/>
          </a:bodyPr>
          <a:lstStyle/>
          <a:p>
            <a:pPr>
              <a:defRPr sz="2250" b="0">
                <a:solidFill>
                  <a:srgbClr val="37352F"/>
                </a:solidFill>
                <a:latin typeface="Arial"/>
                <a:ea typeface="Arial"/>
                <a:cs typeface="Arial"/>
              </a:defRPr>
            </a:pPr>
            <a:r>
              <a:rPr sz="2250" b="0">
                <a:solidFill>
                  <a:srgbClr val="37352F"/>
                </a:solidFill>
                <a:latin typeface="Arial"/>
                <a:ea typeface="Arial"/>
                <a:cs typeface="Arial"/>
              </a:rPr>
              <a:t>Can this vendor go live by Friday?</a:t>
            </a:r>
          </a:p>
        </p:txBody>
      </p:sp>
      <p:sp>
        <p:nvSpPr>
          <p:cNvPr id="6" name="Interface surface">
            <a:extLst>
              <a:ext uri="{FF2B5EF4-FFF2-40B4-BE49-F238E27FC236}">
                <a16:creationId xmlns:a16="http://schemas.microsoft.com/office/drawing/2014/main" id="{6C41D3A2-E996-47CD-854A-BBD9FCB7575D}"/>
              </a:ext>
            </a:extLst>
          </p:cNvPr>
          <p:cNvSpPr>
            <a:spLocks noGrp="1"/>
          </p:cNvSpPr>
          <p:nvPr/>
        </p:nvSpPr>
        <p:spPr>
          <a:xfrm>
            <a:off x="1143000" y="3562350"/>
            <a:ext cx="9906000" cy="3143250"/>
          </a:xfrm>
          <a:prstGeom prst="roundRect">
            <a:avLst>
              <a:gd name="adj" fmla="val 2424"/>
            </a:avLst>
          </a:prstGeom>
          <a:solidFill>
            <a:srgbClr val="FFFFFF"/>
          </a:solidFill>
          <a:ln w="0">
            <a:noFill/>
          </a:ln>
        </p:spPr>
        <p:txBody>
          <a:bodyPr/>
          <a:lstStyle/>
          <a:p>
            <a:endParaRPr lang="en-US"/>
          </a:p>
        </p:txBody>
      </p:sp>
      <p:sp>
        <p:nvSpPr>
          <p:cNvPr id="7" name="Materials · select up to 8 files">
            <a:extLst>
              <a:ext uri="{FF2B5EF4-FFF2-40B4-BE49-F238E27FC236}">
                <a16:creationId xmlns:a16="http://schemas.microsoft.com/office/drawing/2014/main" id="{2779800B-AD36-4B7D-9F53-3A04D2F4614B}"/>
              </a:ext>
            </a:extLst>
          </p:cNvPr>
          <p:cNvSpPr>
            <a:spLocks noGrp="1"/>
          </p:cNvSpPr>
          <p:nvPr/>
        </p:nvSpPr>
        <p:spPr>
          <a:xfrm>
            <a:off x="1409700" y="3695700"/>
            <a:ext cx="9372600" cy="361950"/>
          </a:xfrm>
          <a:prstGeom prst="rect">
            <a:avLst/>
          </a:prstGeom>
          <a:noFill/>
          <a:ln w="0">
            <a:noFill/>
          </a:ln>
        </p:spPr>
        <p:txBody>
          <a:bodyPr>
            <a:noAutofit/>
          </a:bodyPr>
          <a:lstStyle/>
          <a:p>
            <a:pPr>
              <a:defRPr sz="1725" b="0">
                <a:solidFill>
                  <a:srgbClr val="777970"/>
                </a:solidFill>
                <a:latin typeface="Arial"/>
                <a:ea typeface="Arial"/>
                <a:cs typeface="Arial"/>
              </a:defRPr>
            </a:pPr>
            <a:r>
              <a:rPr sz="1725" b="0">
                <a:solidFill>
                  <a:srgbClr val="777970"/>
                </a:solidFill>
                <a:latin typeface="Arial"/>
                <a:ea typeface="Arial"/>
                <a:cs typeface="Arial"/>
              </a:rPr>
              <a:t>Materials · select up to 8 files</a:t>
            </a:r>
          </a:p>
        </p:txBody>
      </p:sp>
      <p:sp>
        <p:nvSpPr>
          <p:cNvPr id="8" name="Interface surface">
            <a:extLst>
              <a:ext uri="{FF2B5EF4-FFF2-40B4-BE49-F238E27FC236}">
                <a16:creationId xmlns:a16="http://schemas.microsoft.com/office/drawing/2014/main" id="{FF831587-65D8-4F88-9D1C-255600BBD489}"/>
              </a:ext>
            </a:extLst>
          </p:cNvPr>
          <p:cNvSpPr>
            <a:spLocks noGrp="1"/>
          </p:cNvSpPr>
          <p:nvPr/>
        </p:nvSpPr>
        <p:spPr>
          <a:xfrm>
            <a:off x="1447800" y="4238625"/>
            <a:ext cx="238125" cy="238125"/>
          </a:xfrm>
          <a:prstGeom prst="roundRect">
            <a:avLst>
              <a:gd name="adj" fmla="val 32000"/>
            </a:avLst>
          </a:prstGeom>
          <a:solidFill>
            <a:srgbClr val="267EBD"/>
          </a:solidFill>
          <a:ln w="0">
            <a:noFill/>
          </a:ln>
        </p:spPr>
        <p:txBody>
          <a:bodyPr/>
          <a:lstStyle/>
          <a:p>
            <a:endParaRPr lang="en-US"/>
          </a:p>
        </p:txBody>
      </p:sp>
      <p:sp>
        <p:nvSpPr>
          <p:cNvPr id="9" name="✓">
            <a:extLst>
              <a:ext uri="{FF2B5EF4-FFF2-40B4-BE49-F238E27FC236}">
                <a16:creationId xmlns:a16="http://schemas.microsoft.com/office/drawing/2014/main" id="{B8CDC94A-0490-409D-AC6D-020932889855}"/>
              </a:ext>
            </a:extLst>
          </p:cNvPr>
          <p:cNvSpPr>
            <a:spLocks noGrp="1"/>
          </p:cNvSpPr>
          <p:nvPr/>
        </p:nvSpPr>
        <p:spPr>
          <a:xfrm>
            <a:off x="1419225" y="4210050"/>
            <a:ext cx="285750" cy="285750"/>
          </a:xfrm>
          <a:prstGeom prst="rect">
            <a:avLst/>
          </a:prstGeom>
          <a:no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a:t>
            </a:r>
          </a:p>
        </p:txBody>
      </p:sp>
      <p:sp>
        <p:nvSpPr>
          <p:cNvPr id="10" name="VENDORLINK_STATUS_NVID-10482.json">
            <a:extLst>
              <a:ext uri="{FF2B5EF4-FFF2-40B4-BE49-F238E27FC236}">
                <a16:creationId xmlns:a16="http://schemas.microsoft.com/office/drawing/2014/main" id="{462A0A74-CA00-499F-928F-429AA51AE62C}"/>
              </a:ext>
            </a:extLst>
          </p:cNvPr>
          <p:cNvSpPr>
            <a:spLocks noGrp="1"/>
          </p:cNvSpPr>
          <p:nvPr/>
        </p:nvSpPr>
        <p:spPr>
          <a:xfrm>
            <a:off x="1885950" y="4191000"/>
            <a:ext cx="8810625" cy="419100"/>
          </a:xfrm>
          <a:prstGeom prst="rect">
            <a:avLst/>
          </a:prstGeom>
          <a:noFill/>
          <a:ln w="0">
            <a:noFill/>
          </a:ln>
        </p:spPr>
        <p:txBody>
          <a:bodyPr>
            <a:noAutofit/>
          </a:bodyPr>
          <a:lstStyle/>
          <a:p>
            <a:pPr>
              <a:defRPr sz="2025" b="0">
                <a:solidFill>
                  <a:srgbClr val="37352F"/>
                </a:solidFill>
                <a:latin typeface="Arial"/>
                <a:ea typeface="Arial"/>
                <a:cs typeface="Arial"/>
              </a:defRPr>
            </a:pPr>
            <a:r>
              <a:rPr sz="2025" b="0">
                <a:solidFill>
                  <a:srgbClr val="37352F"/>
                </a:solidFill>
                <a:latin typeface="Arial"/>
                <a:ea typeface="Arial"/>
                <a:cs typeface="Arial"/>
              </a:rPr>
              <a:t>VENDORLINK_STATUS_NVID-10482.json</a:t>
            </a:r>
          </a:p>
        </p:txBody>
      </p:sp>
      <p:sp>
        <p:nvSpPr>
          <p:cNvPr id="11" name="Interface surface">
            <a:extLst>
              <a:ext uri="{FF2B5EF4-FFF2-40B4-BE49-F238E27FC236}">
                <a16:creationId xmlns:a16="http://schemas.microsoft.com/office/drawing/2014/main" id="{A3E869EE-75E6-48C1-BCD7-ECEAAE01C3B9}"/>
              </a:ext>
            </a:extLst>
          </p:cNvPr>
          <p:cNvSpPr>
            <a:spLocks noGrp="1"/>
          </p:cNvSpPr>
          <p:nvPr/>
        </p:nvSpPr>
        <p:spPr>
          <a:xfrm>
            <a:off x="1447800" y="4762500"/>
            <a:ext cx="238125" cy="238125"/>
          </a:xfrm>
          <a:prstGeom prst="roundRect">
            <a:avLst>
              <a:gd name="adj" fmla="val 32000"/>
            </a:avLst>
          </a:prstGeom>
          <a:solidFill>
            <a:srgbClr val="267EBD"/>
          </a:solidFill>
          <a:ln w="0">
            <a:noFill/>
          </a:ln>
        </p:spPr>
        <p:txBody>
          <a:bodyPr/>
          <a:lstStyle/>
          <a:p>
            <a:endParaRPr lang="en-US"/>
          </a:p>
        </p:txBody>
      </p:sp>
      <p:sp>
        <p:nvSpPr>
          <p:cNvPr id="12" name="✓">
            <a:extLst>
              <a:ext uri="{FF2B5EF4-FFF2-40B4-BE49-F238E27FC236}">
                <a16:creationId xmlns:a16="http://schemas.microsoft.com/office/drawing/2014/main" id="{F4925861-3CCF-4C5E-AB80-A8B9928BE861}"/>
              </a:ext>
            </a:extLst>
          </p:cNvPr>
          <p:cNvSpPr>
            <a:spLocks noGrp="1"/>
          </p:cNvSpPr>
          <p:nvPr/>
        </p:nvSpPr>
        <p:spPr>
          <a:xfrm>
            <a:off x="1419225" y="4733925"/>
            <a:ext cx="285750" cy="285750"/>
          </a:xfrm>
          <a:prstGeom prst="rect">
            <a:avLst/>
          </a:prstGeom>
          <a:no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a:t>
            </a:r>
          </a:p>
        </p:txBody>
      </p:sp>
      <p:sp>
        <p:nvSpPr>
          <p:cNvPr id="13" name="COI_NVID-10482_2026.txt">
            <a:extLst>
              <a:ext uri="{FF2B5EF4-FFF2-40B4-BE49-F238E27FC236}">
                <a16:creationId xmlns:a16="http://schemas.microsoft.com/office/drawing/2014/main" id="{C116D01A-48C4-41B9-849E-DAE81991C17E}"/>
              </a:ext>
            </a:extLst>
          </p:cNvPr>
          <p:cNvSpPr>
            <a:spLocks noGrp="1"/>
          </p:cNvSpPr>
          <p:nvPr/>
        </p:nvSpPr>
        <p:spPr>
          <a:xfrm>
            <a:off x="1885950" y="4714875"/>
            <a:ext cx="8810625" cy="419100"/>
          </a:xfrm>
          <a:prstGeom prst="rect">
            <a:avLst/>
          </a:prstGeom>
          <a:noFill/>
          <a:ln w="0">
            <a:noFill/>
          </a:ln>
        </p:spPr>
        <p:txBody>
          <a:bodyPr>
            <a:noAutofit/>
          </a:bodyPr>
          <a:lstStyle/>
          <a:p>
            <a:pPr>
              <a:defRPr sz="2025" b="0">
                <a:solidFill>
                  <a:srgbClr val="37352F"/>
                </a:solidFill>
                <a:latin typeface="Arial"/>
                <a:ea typeface="Arial"/>
                <a:cs typeface="Arial"/>
              </a:defRPr>
            </a:pPr>
            <a:r>
              <a:rPr sz="2025" b="0">
                <a:solidFill>
                  <a:srgbClr val="37352F"/>
                </a:solidFill>
                <a:latin typeface="Arial"/>
                <a:ea typeface="Arial"/>
                <a:cs typeface="Arial"/>
              </a:rPr>
              <a:t>COI_NVID-10482_2026.txt</a:t>
            </a:r>
          </a:p>
        </p:txBody>
      </p:sp>
      <p:sp>
        <p:nvSpPr>
          <p:cNvPr id="14" name="Interface surface">
            <a:extLst>
              <a:ext uri="{FF2B5EF4-FFF2-40B4-BE49-F238E27FC236}">
                <a16:creationId xmlns:a16="http://schemas.microsoft.com/office/drawing/2014/main" id="{7210CF64-9C84-417F-BA38-032024E65D4B}"/>
              </a:ext>
            </a:extLst>
          </p:cNvPr>
          <p:cNvSpPr>
            <a:spLocks noGrp="1"/>
          </p:cNvSpPr>
          <p:nvPr/>
        </p:nvSpPr>
        <p:spPr>
          <a:xfrm>
            <a:off x="1447800" y="5286375"/>
            <a:ext cx="238125" cy="238125"/>
          </a:xfrm>
          <a:prstGeom prst="roundRect">
            <a:avLst>
              <a:gd name="adj" fmla="val 32000"/>
            </a:avLst>
          </a:prstGeom>
          <a:solidFill>
            <a:srgbClr val="267EBD"/>
          </a:solidFill>
          <a:ln w="0">
            <a:noFill/>
          </a:ln>
        </p:spPr>
        <p:txBody>
          <a:bodyPr/>
          <a:lstStyle/>
          <a:p>
            <a:endParaRPr lang="en-US"/>
          </a:p>
        </p:txBody>
      </p:sp>
      <p:sp>
        <p:nvSpPr>
          <p:cNvPr id="15" name="✓">
            <a:extLst>
              <a:ext uri="{FF2B5EF4-FFF2-40B4-BE49-F238E27FC236}">
                <a16:creationId xmlns:a16="http://schemas.microsoft.com/office/drawing/2014/main" id="{697ACD61-1E53-4617-B168-8B97650119A3}"/>
              </a:ext>
            </a:extLst>
          </p:cNvPr>
          <p:cNvSpPr>
            <a:spLocks noGrp="1"/>
          </p:cNvSpPr>
          <p:nvPr/>
        </p:nvSpPr>
        <p:spPr>
          <a:xfrm>
            <a:off x="1419225" y="5257800"/>
            <a:ext cx="285750" cy="285750"/>
          </a:xfrm>
          <a:prstGeom prst="rect">
            <a:avLst/>
          </a:prstGeom>
          <a:no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a:t>
            </a:r>
          </a:p>
        </p:txBody>
      </p:sp>
      <p:sp>
        <p:nvSpPr>
          <p:cNvPr id="16" name="PO_78431_DRAFT.md">
            <a:extLst>
              <a:ext uri="{FF2B5EF4-FFF2-40B4-BE49-F238E27FC236}">
                <a16:creationId xmlns:a16="http://schemas.microsoft.com/office/drawing/2014/main" id="{08127D07-5E5F-4C2D-82A0-94C74FB5F5ED}"/>
              </a:ext>
            </a:extLst>
          </p:cNvPr>
          <p:cNvSpPr>
            <a:spLocks noGrp="1"/>
          </p:cNvSpPr>
          <p:nvPr/>
        </p:nvSpPr>
        <p:spPr>
          <a:xfrm>
            <a:off x="1885950" y="5238750"/>
            <a:ext cx="8810625" cy="419100"/>
          </a:xfrm>
          <a:prstGeom prst="rect">
            <a:avLst/>
          </a:prstGeom>
          <a:noFill/>
          <a:ln w="0">
            <a:noFill/>
          </a:ln>
        </p:spPr>
        <p:txBody>
          <a:bodyPr>
            <a:noAutofit/>
          </a:bodyPr>
          <a:lstStyle/>
          <a:p>
            <a:pPr>
              <a:defRPr sz="2025" b="0">
                <a:solidFill>
                  <a:srgbClr val="37352F"/>
                </a:solidFill>
                <a:latin typeface="Arial"/>
                <a:ea typeface="Arial"/>
                <a:cs typeface="Arial"/>
              </a:defRPr>
            </a:pPr>
            <a:r>
              <a:rPr sz="2025" b="0">
                <a:solidFill>
                  <a:srgbClr val="37352F"/>
                </a:solidFill>
                <a:latin typeface="Arial"/>
                <a:ea typeface="Arial"/>
                <a:cs typeface="Arial"/>
              </a:rPr>
              <a:t>PO_78431_DRAFT.md</a:t>
            </a:r>
          </a:p>
        </p:txBody>
      </p:sp>
      <p:sp>
        <p:nvSpPr>
          <p:cNvPr id="17" name="Interface surface">
            <a:extLst>
              <a:ext uri="{FF2B5EF4-FFF2-40B4-BE49-F238E27FC236}">
                <a16:creationId xmlns:a16="http://schemas.microsoft.com/office/drawing/2014/main" id="{13C374C9-81A6-467E-BA15-767F39928502}"/>
              </a:ext>
            </a:extLst>
          </p:cNvPr>
          <p:cNvSpPr>
            <a:spLocks noGrp="1"/>
          </p:cNvSpPr>
          <p:nvPr/>
        </p:nvSpPr>
        <p:spPr>
          <a:xfrm>
            <a:off x="8648700" y="6134100"/>
            <a:ext cx="2095500" cy="438150"/>
          </a:xfrm>
          <a:prstGeom prst="roundRect">
            <a:avLst>
              <a:gd name="adj" fmla="val 17391"/>
            </a:avLst>
          </a:prstGeom>
          <a:solidFill>
            <a:srgbClr val="267EBD"/>
          </a:solidFill>
          <a:ln w="0">
            <a:noFill/>
          </a:ln>
        </p:spPr>
        <p:txBody>
          <a:bodyPr/>
          <a:lstStyle/>
          <a:p>
            <a:endParaRPr lang="en-US"/>
          </a:p>
        </p:txBody>
      </p:sp>
      <p:sp>
        <p:nvSpPr>
          <p:cNvPr id="18" name="Create workflow">
            <a:extLst>
              <a:ext uri="{FF2B5EF4-FFF2-40B4-BE49-F238E27FC236}">
                <a16:creationId xmlns:a16="http://schemas.microsoft.com/office/drawing/2014/main" id="{D0F53270-F892-4893-818E-839EB80AEC0B}"/>
              </a:ext>
            </a:extLst>
          </p:cNvPr>
          <p:cNvSpPr>
            <a:spLocks noGrp="1"/>
          </p:cNvSpPr>
          <p:nvPr/>
        </p:nvSpPr>
        <p:spPr>
          <a:xfrm>
            <a:off x="8753475" y="6181725"/>
            <a:ext cx="1952625" cy="381000"/>
          </a:xfrm>
          <a:prstGeom prst="rect">
            <a:avLst/>
          </a:prstGeom>
          <a:noFill/>
          <a:ln w="0">
            <a:noFill/>
          </a:ln>
        </p:spPr>
        <p:txBody>
          <a:bodyPr>
            <a:noAutofit/>
          </a:bodyPr>
          <a:lstStyle/>
          <a:p>
            <a:pPr>
              <a:defRPr sz="1875" b="0">
                <a:solidFill>
                  <a:srgbClr val="FFFFFF"/>
                </a:solidFill>
                <a:latin typeface="Arial"/>
                <a:ea typeface="Arial"/>
                <a:cs typeface="Arial"/>
              </a:defRPr>
            </a:pPr>
            <a:r>
              <a:rPr sz="1875" b="0">
                <a:solidFill>
                  <a:srgbClr val="FFFFFF"/>
                </a:solidFill>
                <a:latin typeface="Arial"/>
                <a:ea typeface="Arial"/>
                <a:cs typeface="Arial"/>
              </a:rPr>
              <a:t>Create workflow</a:t>
            </a:r>
          </a:p>
        </p:txBody>
      </p:sp>
    </p:spTree>
    <p:extLst>
      <p:ext uri="{BB962C8B-B14F-4D97-AF65-F5344CB8AC3E}">
        <p14:creationId xmlns:p14="http://schemas.microsoft.com/office/powerpoint/2010/main" val="376961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DEFE4"/>
        </a:solidFill>
        <a:effectLst/>
      </p:bgPr>
    </p:bg>
    <p:spTree>
      <p:nvGrpSpPr>
        <p:cNvPr id="1" name=""/>
        <p:cNvGrpSpPr/>
        <p:nvPr/>
      </p:nvGrpSpPr>
      <p:grpSpPr>
        <a:xfrm>
          <a:off x="0" y="0"/>
          <a:ext cx="0" cy="0"/>
          <a:chOff x="0" y="0"/>
          <a:chExt cx="0" cy="0"/>
        </a:xfrm>
      </p:grpSpPr>
      <p:sp>
        <p:nvSpPr>
          <p:cNvPr id="25" name="The plan shows who does what">
            <a:extLst>
              <a:ext uri="{FF2B5EF4-FFF2-40B4-BE49-F238E27FC236}">
                <a16:creationId xmlns:a16="http://schemas.microsoft.com/office/drawing/2014/main" id="{E539B352-0DE6-430E-93E9-584F42A79643}"/>
              </a:ext>
            </a:extLst>
          </p:cNvPr>
          <p:cNvSpPr>
            <a:spLocks noGrp="1"/>
          </p:cNvSpPr>
          <p:nvPr/>
        </p:nvSpPr>
        <p:spPr>
          <a:xfrm>
            <a:off x="590550" y="1847850"/>
            <a:ext cx="4238625" cy="1695450"/>
          </a:xfrm>
          <a:prstGeom prst="rect">
            <a:avLst/>
          </a:prstGeom>
          <a:noFill/>
          <a:ln w="0">
            <a:noFill/>
          </a:ln>
        </p:spPr>
        <p:txBody>
          <a:bodyPr>
            <a:noAutofit/>
          </a:bodyPr>
          <a:lstStyle/>
          <a:p>
            <a:pPr>
              <a:defRPr sz="4050" b="1">
                <a:solidFill>
                  <a:srgbClr val="143F35"/>
                </a:solidFill>
                <a:latin typeface="Arial"/>
                <a:ea typeface="Arial"/>
                <a:cs typeface="Arial"/>
              </a:defRPr>
            </a:pPr>
            <a:r>
              <a:rPr sz="4050" b="1">
                <a:solidFill>
                  <a:srgbClr val="143F35"/>
                </a:solidFill>
                <a:latin typeface="Arial"/>
                <a:ea typeface="Arial"/>
                <a:cs typeface="Arial"/>
              </a:rPr>
              <a:t>The plan shows</a:t>
            </a:r>
          </a:p>
          <a:p>
            <a:pPr>
              <a:defRPr sz="4050" b="1">
                <a:solidFill>
                  <a:srgbClr val="143F35"/>
                </a:solidFill>
                <a:latin typeface="Arial"/>
                <a:ea typeface="Arial"/>
                <a:cs typeface="Arial"/>
              </a:defRPr>
            </a:pPr>
            <a:r>
              <a:rPr sz="4050" b="1">
                <a:solidFill>
                  <a:srgbClr val="143F35"/>
                </a:solidFill>
                <a:latin typeface="Arial"/>
                <a:ea typeface="Arial"/>
                <a:cs typeface="Arial"/>
              </a:rPr>
              <a:t>who does what</a:t>
            </a:r>
          </a:p>
        </p:txBody>
      </p:sp>
      <p:sp>
        <p:nvSpPr>
          <p:cNvPr id="2" name="Interface surface">
            <a:extLst>
              <a:ext uri="{FF2B5EF4-FFF2-40B4-BE49-F238E27FC236}">
                <a16:creationId xmlns:a16="http://schemas.microsoft.com/office/drawing/2014/main" id="{A57B3706-0AA6-486C-AFE2-6913E97D8E1A}"/>
              </a:ext>
            </a:extLst>
          </p:cNvPr>
          <p:cNvSpPr>
            <a:spLocks noGrp="1"/>
          </p:cNvSpPr>
          <p:nvPr/>
        </p:nvSpPr>
        <p:spPr>
          <a:xfrm>
            <a:off x="5105400" y="619125"/>
            <a:ext cx="6400800" cy="5648325"/>
          </a:xfrm>
          <a:prstGeom prst="roundRect">
            <a:avLst>
              <a:gd name="adj" fmla="val 1349"/>
            </a:avLst>
          </a:prstGeom>
          <a:solidFill>
            <a:srgbClr val="FFFFFF"/>
          </a:solidFill>
          <a:ln w="0">
            <a:noFill/>
          </a:ln>
        </p:spPr>
        <p:txBody>
          <a:bodyPr/>
          <a:lstStyle/>
          <a:p>
            <a:endParaRPr lang="en-US"/>
          </a:p>
        </p:txBody>
      </p:sp>
      <p:sp>
        <p:nvSpPr>
          <p:cNvPr id="3" name="Interface surface">
            <a:extLst>
              <a:ext uri="{FF2B5EF4-FFF2-40B4-BE49-F238E27FC236}">
                <a16:creationId xmlns:a16="http://schemas.microsoft.com/office/drawing/2014/main" id="{74E20ED7-3279-4403-BCFB-6B74F69B1C72}"/>
              </a:ext>
            </a:extLst>
          </p:cNvPr>
          <p:cNvSpPr>
            <a:spLocks noGrp="1"/>
          </p:cNvSpPr>
          <p:nvPr/>
        </p:nvSpPr>
        <p:spPr>
          <a:xfrm>
            <a:off x="5181600" y="695325"/>
            <a:ext cx="6248400" cy="5495925"/>
          </a:xfrm>
          <a:prstGeom prst="roundRect">
            <a:avLst>
              <a:gd name="adj" fmla="val 1386"/>
            </a:avLst>
          </a:prstGeom>
          <a:solidFill>
            <a:srgbClr val="F7F8F5"/>
          </a:solidFill>
          <a:ln w="9525">
            <a:solidFill>
              <a:srgbClr val="E5E7E1"/>
            </a:solidFill>
          </a:ln>
        </p:spPr>
        <p:txBody>
          <a:bodyPr/>
          <a:lstStyle/>
          <a:p>
            <a:endParaRPr lang="en-US"/>
          </a:p>
        </p:txBody>
      </p:sp>
      <p:sp>
        <p:nvSpPr>
          <p:cNvPr id="4" name="Plan">
            <a:extLst>
              <a:ext uri="{FF2B5EF4-FFF2-40B4-BE49-F238E27FC236}">
                <a16:creationId xmlns:a16="http://schemas.microsoft.com/office/drawing/2014/main" id="{78E57418-D442-4B07-AC95-D0E784BFCBCA}"/>
              </a:ext>
            </a:extLst>
          </p:cNvPr>
          <p:cNvSpPr>
            <a:spLocks noGrp="1"/>
          </p:cNvSpPr>
          <p:nvPr/>
        </p:nvSpPr>
        <p:spPr>
          <a:xfrm>
            <a:off x="5438775" y="904875"/>
            <a:ext cx="5734050" cy="400050"/>
          </a:xfrm>
          <a:prstGeom prst="rect">
            <a:avLst/>
          </a:prstGeom>
          <a:noFill/>
          <a:ln w="0">
            <a:noFill/>
          </a:ln>
        </p:spPr>
        <p:txBody>
          <a:bodyPr>
            <a:noAutofit/>
          </a:bodyPr>
          <a:lstStyle/>
          <a:p>
            <a:pPr>
              <a:defRPr sz="2100" b="1">
                <a:solidFill>
                  <a:srgbClr val="37352F"/>
                </a:solidFill>
                <a:latin typeface="Arial"/>
                <a:ea typeface="Arial"/>
                <a:cs typeface="Arial"/>
              </a:defRPr>
            </a:pPr>
            <a:r>
              <a:rPr sz="2100" b="1">
                <a:solidFill>
                  <a:srgbClr val="37352F"/>
                </a:solidFill>
                <a:latin typeface="Arial"/>
                <a:ea typeface="Arial"/>
                <a:cs typeface="Arial"/>
              </a:rPr>
              <a:t>Plan</a:t>
            </a:r>
          </a:p>
        </p:txBody>
      </p:sp>
      <p:sp>
        <p:nvSpPr>
          <p:cNvPr id="5" name="Interface surface">
            <a:extLst>
              <a:ext uri="{FF2B5EF4-FFF2-40B4-BE49-F238E27FC236}">
                <a16:creationId xmlns:a16="http://schemas.microsoft.com/office/drawing/2014/main" id="{9476D70B-F493-48F0-9237-96F15BCFBA36}"/>
              </a:ext>
            </a:extLst>
          </p:cNvPr>
          <p:cNvSpPr>
            <a:spLocks noGrp="1"/>
          </p:cNvSpPr>
          <p:nvPr/>
        </p:nvSpPr>
        <p:spPr>
          <a:xfrm>
            <a:off x="5438775" y="1571625"/>
            <a:ext cx="333375" cy="333375"/>
          </a:xfrm>
          <a:prstGeom prst="roundRect">
            <a:avLst>
              <a:gd name="adj" fmla="val 22857"/>
            </a:avLst>
          </a:prstGeom>
          <a:solidFill>
            <a:srgbClr val="EDF2E6"/>
          </a:solidFill>
          <a:ln w="9525">
            <a:solidFill>
              <a:srgbClr val="E5E7E1"/>
            </a:solidFill>
          </a:ln>
        </p:spPr>
        <p:txBody>
          <a:bodyPr/>
          <a:lstStyle/>
          <a:p>
            <a:endParaRPr lang="en-US"/>
          </a:p>
        </p:txBody>
      </p:sp>
      <p:sp>
        <p:nvSpPr>
          <p:cNvPr id="6" name="✓">
            <a:extLst>
              <a:ext uri="{FF2B5EF4-FFF2-40B4-BE49-F238E27FC236}">
                <a16:creationId xmlns:a16="http://schemas.microsoft.com/office/drawing/2014/main" id="{6CFE8480-6BA3-47A5-9F9F-47AE95368E59}"/>
              </a:ext>
            </a:extLst>
          </p:cNvPr>
          <p:cNvSpPr>
            <a:spLocks noGrp="1"/>
          </p:cNvSpPr>
          <p:nvPr/>
        </p:nvSpPr>
        <p:spPr>
          <a:xfrm>
            <a:off x="5495925" y="1581150"/>
            <a:ext cx="285750" cy="342900"/>
          </a:xfrm>
          <a:prstGeom prst="rect">
            <a:avLst/>
          </a:prstGeom>
          <a:noFill/>
          <a:ln w="0">
            <a:noFill/>
          </a:ln>
        </p:spPr>
        <p:txBody>
          <a:bodyPr>
            <a:noAutofit/>
          </a:bodyPr>
          <a:lstStyle/>
          <a:p>
            <a:pPr>
              <a:defRPr sz="1800" b="0">
                <a:solidFill>
                  <a:srgbClr val="78967C"/>
                </a:solidFill>
                <a:latin typeface="Arial"/>
                <a:ea typeface="Arial"/>
                <a:cs typeface="Arial"/>
              </a:defRPr>
            </a:pPr>
            <a:r>
              <a:rPr sz="1800" b="0">
                <a:solidFill>
                  <a:srgbClr val="78967C"/>
                </a:solidFill>
                <a:latin typeface="Arial"/>
                <a:ea typeface="Arial"/>
                <a:cs typeface="Arial"/>
              </a:rPr>
              <a:t>✓</a:t>
            </a:r>
          </a:p>
        </p:txBody>
      </p:sp>
      <p:sp>
        <p:nvSpPr>
          <p:cNvPr id="7" name="Check vendor records">
            <a:extLst>
              <a:ext uri="{FF2B5EF4-FFF2-40B4-BE49-F238E27FC236}">
                <a16:creationId xmlns:a16="http://schemas.microsoft.com/office/drawing/2014/main" id="{1B953285-A583-4B26-9FC6-ED39F38F3319}"/>
              </a:ext>
            </a:extLst>
          </p:cNvPr>
          <p:cNvSpPr>
            <a:spLocks noGrp="1"/>
          </p:cNvSpPr>
          <p:nvPr/>
        </p:nvSpPr>
        <p:spPr>
          <a:xfrm>
            <a:off x="5934075" y="1552575"/>
            <a:ext cx="5124450" cy="400050"/>
          </a:xfrm>
          <a:prstGeom prst="rect">
            <a:avLst/>
          </a:prstGeom>
          <a:noFill/>
          <a:ln w="0">
            <a:noFill/>
          </a:ln>
        </p:spPr>
        <p:txBody>
          <a:bodyPr>
            <a:noAutofit/>
          </a:bodyPr>
          <a:lstStyle/>
          <a:p>
            <a:pPr>
              <a:defRPr sz="2025" b="1">
                <a:solidFill>
                  <a:srgbClr val="37352F"/>
                </a:solidFill>
                <a:latin typeface="Arial"/>
                <a:ea typeface="Arial"/>
                <a:cs typeface="Arial"/>
              </a:defRPr>
            </a:pPr>
            <a:r>
              <a:rPr sz="2025" b="1">
                <a:solidFill>
                  <a:srgbClr val="37352F"/>
                </a:solidFill>
                <a:latin typeface="Arial"/>
                <a:ea typeface="Arial"/>
                <a:cs typeface="Arial"/>
              </a:rPr>
              <a:t>Check vendor records</a:t>
            </a:r>
          </a:p>
        </p:txBody>
      </p:sp>
      <p:sp>
        <p:nvSpPr>
          <p:cNvPr id="8" name="Automated checks">
            <a:extLst>
              <a:ext uri="{FF2B5EF4-FFF2-40B4-BE49-F238E27FC236}">
                <a16:creationId xmlns:a16="http://schemas.microsoft.com/office/drawing/2014/main" id="{D429C449-5634-4A0E-B04B-826D109AB0CF}"/>
              </a:ext>
            </a:extLst>
          </p:cNvPr>
          <p:cNvSpPr>
            <a:spLocks noGrp="1"/>
          </p:cNvSpPr>
          <p:nvPr/>
        </p:nvSpPr>
        <p:spPr>
          <a:xfrm>
            <a:off x="5934075" y="1962150"/>
            <a:ext cx="5162550" cy="314325"/>
          </a:xfrm>
          <a:prstGeom prst="rect">
            <a:avLst/>
          </a:prstGeom>
          <a:noFill/>
          <a:ln w="0">
            <a:noFill/>
          </a:ln>
        </p:spPr>
        <p:txBody>
          <a:bodyPr>
            <a:noAutofit/>
          </a:bodyPr>
          <a:lstStyle/>
          <a:p>
            <a:pPr>
              <a:defRPr sz="1650" b="0">
                <a:solidFill>
                  <a:srgbClr val="777970"/>
                </a:solidFill>
                <a:latin typeface="Arial"/>
                <a:ea typeface="Arial"/>
                <a:cs typeface="Arial"/>
              </a:defRPr>
            </a:pPr>
            <a:r>
              <a:rPr sz="1650" b="0">
                <a:solidFill>
                  <a:srgbClr val="777970"/>
                </a:solidFill>
                <a:latin typeface="Arial"/>
                <a:ea typeface="Arial"/>
                <a:cs typeface="Arial"/>
              </a:rPr>
              <a:t>Automated checks</a:t>
            </a:r>
          </a:p>
        </p:txBody>
      </p:sp>
      <p:sp>
        <p:nvSpPr>
          <p:cNvPr id="9" name="●  Done">
            <a:extLst>
              <a:ext uri="{FF2B5EF4-FFF2-40B4-BE49-F238E27FC236}">
                <a16:creationId xmlns:a16="http://schemas.microsoft.com/office/drawing/2014/main" id="{DF2F3A84-B945-46FF-9518-6D39AD581869}"/>
              </a:ext>
            </a:extLst>
          </p:cNvPr>
          <p:cNvSpPr>
            <a:spLocks noGrp="1"/>
          </p:cNvSpPr>
          <p:nvPr/>
        </p:nvSpPr>
        <p:spPr>
          <a:xfrm>
            <a:off x="5934075" y="2276475"/>
            <a:ext cx="5162550" cy="323850"/>
          </a:xfrm>
          <a:prstGeom prst="rect">
            <a:avLst/>
          </a:prstGeom>
          <a:noFill/>
          <a:ln w="0">
            <a:noFill/>
          </a:ln>
        </p:spPr>
        <p:txBody>
          <a:bodyPr>
            <a:noAutofit/>
          </a:bodyPr>
          <a:lstStyle/>
          <a:p>
            <a:pPr>
              <a:defRPr sz="1575" b="0">
                <a:solidFill>
                  <a:srgbClr val="78967C"/>
                </a:solidFill>
                <a:latin typeface="Arial"/>
                <a:ea typeface="Arial"/>
                <a:cs typeface="Arial"/>
              </a:defRPr>
            </a:pPr>
            <a:r>
              <a:rPr sz="1575" b="0">
                <a:solidFill>
                  <a:srgbClr val="78967C"/>
                </a:solidFill>
                <a:latin typeface="Arial"/>
                <a:ea typeface="Arial"/>
                <a:cs typeface="Arial"/>
              </a:rPr>
              <a:t>●  Done</a:t>
            </a:r>
          </a:p>
        </p:txBody>
      </p:sp>
      <p:sp>
        <p:nvSpPr>
          <p:cNvPr id="10" name="Interface surface">
            <a:extLst>
              <a:ext uri="{FF2B5EF4-FFF2-40B4-BE49-F238E27FC236}">
                <a16:creationId xmlns:a16="http://schemas.microsoft.com/office/drawing/2014/main" id="{20666E2D-1476-4E6A-BF75-921889CBD268}"/>
              </a:ext>
            </a:extLst>
          </p:cNvPr>
          <p:cNvSpPr>
            <a:spLocks noGrp="1"/>
          </p:cNvSpPr>
          <p:nvPr/>
        </p:nvSpPr>
        <p:spPr>
          <a:xfrm>
            <a:off x="5438775" y="2676525"/>
            <a:ext cx="333375" cy="333375"/>
          </a:xfrm>
          <a:prstGeom prst="roundRect">
            <a:avLst>
              <a:gd name="adj" fmla="val 22857"/>
            </a:avLst>
          </a:prstGeom>
          <a:solidFill>
            <a:srgbClr val="EDF2E6"/>
          </a:solidFill>
          <a:ln w="9525">
            <a:solidFill>
              <a:srgbClr val="E5E7E1"/>
            </a:solidFill>
          </a:ln>
        </p:spPr>
        <p:txBody>
          <a:bodyPr/>
          <a:lstStyle/>
          <a:p>
            <a:endParaRPr lang="en-US"/>
          </a:p>
        </p:txBody>
      </p:sp>
      <p:sp>
        <p:nvSpPr>
          <p:cNvPr id="11" name="✓">
            <a:extLst>
              <a:ext uri="{FF2B5EF4-FFF2-40B4-BE49-F238E27FC236}">
                <a16:creationId xmlns:a16="http://schemas.microsoft.com/office/drawing/2014/main" id="{181DEE2A-C939-48C9-891B-08027039B961}"/>
              </a:ext>
            </a:extLst>
          </p:cNvPr>
          <p:cNvSpPr>
            <a:spLocks noGrp="1"/>
          </p:cNvSpPr>
          <p:nvPr/>
        </p:nvSpPr>
        <p:spPr>
          <a:xfrm>
            <a:off x="5495925" y="2686050"/>
            <a:ext cx="285750" cy="342900"/>
          </a:xfrm>
          <a:prstGeom prst="rect">
            <a:avLst/>
          </a:prstGeom>
          <a:noFill/>
          <a:ln w="0">
            <a:noFill/>
          </a:ln>
        </p:spPr>
        <p:txBody>
          <a:bodyPr>
            <a:noAutofit/>
          </a:bodyPr>
          <a:lstStyle/>
          <a:p>
            <a:pPr>
              <a:defRPr sz="1800" b="0">
                <a:solidFill>
                  <a:srgbClr val="78967C"/>
                </a:solidFill>
                <a:latin typeface="Arial"/>
                <a:ea typeface="Arial"/>
                <a:cs typeface="Arial"/>
              </a:defRPr>
            </a:pPr>
            <a:r>
              <a:rPr sz="1800" b="0">
                <a:solidFill>
                  <a:srgbClr val="78967C"/>
                </a:solidFill>
                <a:latin typeface="Arial"/>
                <a:ea typeface="Arial"/>
                <a:cs typeface="Arial"/>
              </a:rPr>
              <a:t>✓</a:t>
            </a:r>
          </a:p>
        </p:txBody>
      </p:sp>
      <p:sp>
        <p:nvSpPr>
          <p:cNvPr id="12" name="Assess launch readiness">
            <a:extLst>
              <a:ext uri="{FF2B5EF4-FFF2-40B4-BE49-F238E27FC236}">
                <a16:creationId xmlns:a16="http://schemas.microsoft.com/office/drawing/2014/main" id="{4A592E76-F71A-4E57-A92B-ECF3A3232191}"/>
              </a:ext>
            </a:extLst>
          </p:cNvPr>
          <p:cNvSpPr>
            <a:spLocks noGrp="1"/>
          </p:cNvSpPr>
          <p:nvPr/>
        </p:nvSpPr>
        <p:spPr>
          <a:xfrm>
            <a:off x="5934075" y="2657475"/>
            <a:ext cx="5124450" cy="400050"/>
          </a:xfrm>
          <a:prstGeom prst="rect">
            <a:avLst/>
          </a:prstGeom>
          <a:noFill/>
          <a:ln w="0">
            <a:noFill/>
          </a:ln>
        </p:spPr>
        <p:txBody>
          <a:bodyPr>
            <a:noAutofit/>
          </a:bodyPr>
          <a:lstStyle/>
          <a:p>
            <a:pPr>
              <a:defRPr sz="2025" b="1">
                <a:solidFill>
                  <a:srgbClr val="37352F"/>
                </a:solidFill>
                <a:latin typeface="Arial"/>
                <a:ea typeface="Arial"/>
                <a:cs typeface="Arial"/>
              </a:defRPr>
            </a:pPr>
            <a:r>
              <a:rPr sz="2025" b="1">
                <a:solidFill>
                  <a:srgbClr val="37352F"/>
                </a:solidFill>
                <a:latin typeface="Arial"/>
                <a:ea typeface="Arial"/>
                <a:cs typeface="Arial"/>
              </a:rPr>
              <a:t>Assess launch readiness</a:t>
            </a:r>
          </a:p>
        </p:txBody>
      </p:sp>
      <p:sp>
        <p:nvSpPr>
          <p:cNvPr id="13" name="Qwen analysis">
            <a:extLst>
              <a:ext uri="{FF2B5EF4-FFF2-40B4-BE49-F238E27FC236}">
                <a16:creationId xmlns:a16="http://schemas.microsoft.com/office/drawing/2014/main" id="{E0CAA27F-EE7B-4D47-B419-BC3312A842A1}"/>
              </a:ext>
            </a:extLst>
          </p:cNvPr>
          <p:cNvSpPr>
            <a:spLocks noGrp="1"/>
          </p:cNvSpPr>
          <p:nvPr/>
        </p:nvSpPr>
        <p:spPr>
          <a:xfrm>
            <a:off x="5934075" y="3067050"/>
            <a:ext cx="5162550" cy="314325"/>
          </a:xfrm>
          <a:prstGeom prst="rect">
            <a:avLst/>
          </a:prstGeom>
          <a:noFill/>
          <a:ln w="0">
            <a:noFill/>
          </a:ln>
        </p:spPr>
        <p:txBody>
          <a:bodyPr>
            <a:noAutofit/>
          </a:bodyPr>
          <a:lstStyle/>
          <a:p>
            <a:pPr>
              <a:defRPr sz="1650" b="0">
                <a:solidFill>
                  <a:srgbClr val="777970"/>
                </a:solidFill>
                <a:latin typeface="Arial"/>
                <a:ea typeface="Arial"/>
                <a:cs typeface="Arial"/>
              </a:defRPr>
            </a:pPr>
            <a:r>
              <a:rPr sz="1650" b="0">
                <a:solidFill>
                  <a:srgbClr val="777970"/>
                </a:solidFill>
                <a:latin typeface="Arial"/>
                <a:ea typeface="Arial"/>
                <a:cs typeface="Arial"/>
              </a:rPr>
              <a:t>Qwen analysis</a:t>
            </a:r>
          </a:p>
        </p:txBody>
      </p:sp>
      <p:sp>
        <p:nvSpPr>
          <p:cNvPr id="14" name="●  Done">
            <a:extLst>
              <a:ext uri="{FF2B5EF4-FFF2-40B4-BE49-F238E27FC236}">
                <a16:creationId xmlns:a16="http://schemas.microsoft.com/office/drawing/2014/main" id="{AC336CCA-B105-4349-A2CD-AC76331970E0}"/>
              </a:ext>
            </a:extLst>
          </p:cNvPr>
          <p:cNvSpPr>
            <a:spLocks noGrp="1"/>
          </p:cNvSpPr>
          <p:nvPr/>
        </p:nvSpPr>
        <p:spPr>
          <a:xfrm>
            <a:off x="5934075" y="3381375"/>
            <a:ext cx="5162550" cy="323850"/>
          </a:xfrm>
          <a:prstGeom prst="rect">
            <a:avLst/>
          </a:prstGeom>
          <a:noFill/>
          <a:ln w="0">
            <a:noFill/>
          </a:ln>
        </p:spPr>
        <p:txBody>
          <a:bodyPr>
            <a:noAutofit/>
          </a:bodyPr>
          <a:lstStyle/>
          <a:p>
            <a:pPr>
              <a:defRPr sz="1575" b="0">
                <a:solidFill>
                  <a:srgbClr val="78967C"/>
                </a:solidFill>
                <a:latin typeface="Arial"/>
                <a:ea typeface="Arial"/>
                <a:cs typeface="Arial"/>
              </a:defRPr>
            </a:pPr>
            <a:r>
              <a:rPr sz="1575" b="0">
                <a:solidFill>
                  <a:srgbClr val="78967C"/>
                </a:solidFill>
                <a:latin typeface="Arial"/>
                <a:ea typeface="Arial"/>
                <a:cs typeface="Arial"/>
              </a:rPr>
              <a:t>●  Done</a:t>
            </a:r>
          </a:p>
        </p:txBody>
      </p:sp>
      <p:sp>
        <p:nvSpPr>
          <p:cNvPr id="15" name="Interface surface">
            <a:extLst>
              <a:ext uri="{FF2B5EF4-FFF2-40B4-BE49-F238E27FC236}">
                <a16:creationId xmlns:a16="http://schemas.microsoft.com/office/drawing/2014/main" id="{536EFC58-D27A-44D2-A369-D9D7960AD418}"/>
              </a:ext>
            </a:extLst>
          </p:cNvPr>
          <p:cNvSpPr>
            <a:spLocks noGrp="1"/>
          </p:cNvSpPr>
          <p:nvPr/>
        </p:nvSpPr>
        <p:spPr>
          <a:xfrm>
            <a:off x="5438775" y="3781425"/>
            <a:ext cx="333375" cy="333375"/>
          </a:xfrm>
          <a:prstGeom prst="roundRect">
            <a:avLst>
              <a:gd name="adj" fmla="val 22857"/>
            </a:avLst>
          </a:prstGeom>
          <a:solidFill>
            <a:srgbClr val="FFFFFF"/>
          </a:solidFill>
          <a:ln w="9525">
            <a:solidFill>
              <a:srgbClr val="E5E7E1"/>
            </a:solidFill>
          </a:ln>
        </p:spPr>
        <p:txBody>
          <a:bodyPr/>
          <a:lstStyle/>
          <a:p>
            <a:endParaRPr lang="en-US"/>
          </a:p>
        </p:txBody>
      </p:sp>
      <p:sp>
        <p:nvSpPr>
          <p:cNvPr id="16" name="3">
            <a:extLst>
              <a:ext uri="{FF2B5EF4-FFF2-40B4-BE49-F238E27FC236}">
                <a16:creationId xmlns:a16="http://schemas.microsoft.com/office/drawing/2014/main" id="{CFE783FF-8423-47C0-B06A-255D2B2C7079}"/>
              </a:ext>
            </a:extLst>
          </p:cNvPr>
          <p:cNvSpPr>
            <a:spLocks noGrp="1"/>
          </p:cNvSpPr>
          <p:nvPr/>
        </p:nvSpPr>
        <p:spPr>
          <a:xfrm>
            <a:off x="5495925" y="3790950"/>
            <a:ext cx="285750" cy="342900"/>
          </a:xfrm>
          <a:prstGeom prst="rect">
            <a:avLst/>
          </a:prstGeom>
          <a:noFill/>
          <a:ln w="0">
            <a:noFill/>
          </a:ln>
        </p:spPr>
        <p:txBody>
          <a:bodyPr>
            <a:noAutofit/>
          </a:bodyPr>
          <a:lstStyle/>
          <a:p>
            <a:pPr>
              <a:defRPr sz="1800" b="0">
                <a:solidFill>
                  <a:srgbClr val="78967C"/>
                </a:solidFill>
                <a:latin typeface="Arial"/>
                <a:ea typeface="Arial"/>
                <a:cs typeface="Arial"/>
              </a:defRPr>
            </a:pPr>
            <a:r>
              <a:rPr sz="1800" b="0">
                <a:solidFill>
                  <a:srgbClr val="78967C"/>
                </a:solidFill>
                <a:latin typeface="Arial"/>
                <a:ea typeface="Arial"/>
                <a:cs typeface="Arial"/>
              </a:rPr>
              <a:t>3</a:t>
            </a:r>
          </a:p>
        </p:txBody>
      </p:sp>
      <p:sp>
        <p:nvSpPr>
          <p:cNvPr id="17" name="Review activation conditions">
            <a:extLst>
              <a:ext uri="{FF2B5EF4-FFF2-40B4-BE49-F238E27FC236}">
                <a16:creationId xmlns:a16="http://schemas.microsoft.com/office/drawing/2014/main" id="{2FD672F7-A5F7-48AE-A3C4-1E6DD8D7EF65}"/>
              </a:ext>
            </a:extLst>
          </p:cNvPr>
          <p:cNvSpPr>
            <a:spLocks noGrp="1"/>
          </p:cNvSpPr>
          <p:nvPr/>
        </p:nvSpPr>
        <p:spPr>
          <a:xfrm>
            <a:off x="5934075" y="3762375"/>
            <a:ext cx="5124450" cy="400050"/>
          </a:xfrm>
          <a:prstGeom prst="rect">
            <a:avLst/>
          </a:prstGeom>
          <a:noFill/>
          <a:ln w="0">
            <a:noFill/>
          </a:ln>
        </p:spPr>
        <p:txBody>
          <a:bodyPr>
            <a:noAutofit/>
          </a:bodyPr>
          <a:lstStyle/>
          <a:p>
            <a:pPr>
              <a:defRPr sz="2025" b="1">
                <a:solidFill>
                  <a:srgbClr val="37352F"/>
                </a:solidFill>
                <a:latin typeface="Arial"/>
                <a:ea typeface="Arial"/>
                <a:cs typeface="Arial"/>
              </a:defRPr>
            </a:pPr>
            <a:r>
              <a:rPr sz="2025" b="1">
                <a:solidFill>
                  <a:srgbClr val="37352F"/>
                </a:solidFill>
                <a:latin typeface="Arial"/>
                <a:ea typeface="Arial"/>
                <a:cs typeface="Arial"/>
              </a:rPr>
              <a:t>Review activation conditions</a:t>
            </a:r>
          </a:p>
        </p:txBody>
      </p:sp>
      <p:sp>
        <p:nvSpPr>
          <p:cNvPr id="18" name="Human judgment">
            <a:extLst>
              <a:ext uri="{FF2B5EF4-FFF2-40B4-BE49-F238E27FC236}">
                <a16:creationId xmlns:a16="http://schemas.microsoft.com/office/drawing/2014/main" id="{A603F53D-71DB-489D-9AE6-FB1F47086F85}"/>
              </a:ext>
            </a:extLst>
          </p:cNvPr>
          <p:cNvSpPr>
            <a:spLocks noGrp="1"/>
          </p:cNvSpPr>
          <p:nvPr/>
        </p:nvSpPr>
        <p:spPr>
          <a:xfrm>
            <a:off x="5934075" y="4171950"/>
            <a:ext cx="5162550" cy="314325"/>
          </a:xfrm>
          <a:prstGeom prst="rect">
            <a:avLst/>
          </a:prstGeom>
          <a:noFill/>
          <a:ln w="0">
            <a:noFill/>
          </a:ln>
        </p:spPr>
        <p:txBody>
          <a:bodyPr>
            <a:noAutofit/>
          </a:bodyPr>
          <a:lstStyle/>
          <a:p>
            <a:pPr>
              <a:defRPr sz="1650" b="0">
                <a:solidFill>
                  <a:srgbClr val="777970"/>
                </a:solidFill>
                <a:latin typeface="Arial"/>
                <a:ea typeface="Arial"/>
                <a:cs typeface="Arial"/>
              </a:defRPr>
            </a:pPr>
            <a:r>
              <a:rPr sz="1650" b="0">
                <a:solidFill>
                  <a:srgbClr val="777970"/>
                </a:solidFill>
                <a:latin typeface="Arial"/>
                <a:ea typeface="Arial"/>
                <a:cs typeface="Arial"/>
              </a:rPr>
              <a:t>Human judgment</a:t>
            </a:r>
          </a:p>
        </p:txBody>
      </p:sp>
      <p:sp>
        <p:nvSpPr>
          <p:cNvPr id="19" name="●  Needs a reviewer">
            <a:extLst>
              <a:ext uri="{FF2B5EF4-FFF2-40B4-BE49-F238E27FC236}">
                <a16:creationId xmlns:a16="http://schemas.microsoft.com/office/drawing/2014/main" id="{1AD5F11A-6A07-43F4-9B6C-AC26AD64AC05}"/>
              </a:ext>
            </a:extLst>
          </p:cNvPr>
          <p:cNvSpPr>
            <a:spLocks noGrp="1"/>
          </p:cNvSpPr>
          <p:nvPr/>
        </p:nvSpPr>
        <p:spPr>
          <a:xfrm>
            <a:off x="5934075" y="4486275"/>
            <a:ext cx="5162550" cy="323850"/>
          </a:xfrm>
          <a:prstGeom prst="rect">
            <a:avLst/>
          </a:prstGeom>
          <a:noFill/>
          <a:ln w="0">
            <a:noFill/>
          </a:ln>
        </p:spPr>
        <p:txBody>
          <a:bodyPr>
            <a:noAutofit/>
          </a:bodyPr>
          <a:lstStyle/>
          <a:p>
            <a:pPr>
              <a:defRPr sz="1575" b="0">
                <a:solidFill>
                  <a:srgbClr val="B49454"/>
                </a:solidFill>
                <a:latin typeface="Arial"/>
                <a:ea typeface="Arial"/>
                <a:cs typeface="Arial"/>
              </a:defRPr>
            </a:pPr>
            <a:r>
              <a:rPr sz="1575" b="0">
                <a:solidFill>
                  <a:srgbClr val="B49454"/>
                </a:solidFill>
                <a:latin typeface="Arial"/>
                <a:ea typeface="Arial"/>
                <a:cs typeface="Arial"/>
              </a:rPr>
              <a:t>●  Needs a reviewer</a:t>
            </a:r>
          </a:p>
        </p:txBody>
      </p:sp>
      <p:sp>
        <p:nvSpPr>
          <p:cNvPr id="20" name="Interface surface">
            <a:extLst>
              <a:ext uri="{FF2B5EF4-FFF2-40B4-BE49-F238E27FC236}">
                <a16:creationId xmlns:a16="http://schemas.microsoft.com/office/drawing/2014/main" id="{97F81F8F-5856-4AAC-A29E-5E75D5F504FA}"/>
              </a:ext>
            </a:extLst>
          </p:cNvPr>
          <p:cNvSpPr>
            <a:spLocks noGrp="1"/>
          </p:cNvSpPr>
          <p:nvPr/>
        </p:nvSpPr>
        <p:spPr>
          <a:xfrm>
            <a:off x="5438775" y="4886325"/>
            <a:ext cx="333375" cy="333375"/>
          </a:xfrm>
          <a:prstGeom prst="roundRect">
            <a:avLst>
              <a:gd name="adj" fmla="val 22857"/>
            </a:avLst>
          </a:prstGeom>
          <a:solidFill>
            <a:srgbClr val="FFFFFF"/>
          </a:solidFill>
          <a:ln w="9525">
            <a:solidFill>
              <a:srgbClr val="E5E7E1"/>
            </a:solidFill>
          </a:ln>
        </p:spPr>
        <p:txBody>
          <a:bodyPr/>
          <a:lstStyle/>
          <a:p>
            <a:endParaRPr lang="en-US"/>
          </a:p>
        </p:txBody>
      </p:sp>
      <p:sp>
        <p:nvSpPr>
          <p:cNvPr id="21" name="4">
            <a:extLst>
              <a:ext uri="{FF2B5EF4-FFF2-40B4-BE49-F238E27FC236}">
                <a16:creationId xmlns:a16="http://schemas.microsoft.com/office/drawing/2014/main" id="{CF3D44B2-2C87-4CC6-B738-8C3466E107D0}"/>
              </a:ext>
            </a:extLst>
          </p:cNvPr>
          <p:cNvSpPr>
            <a:spLocks noGrp="1"/>
          </p:cNvSpPr>
          <p:nvPr/>
        </p:nvSpPr>
        <p:spPr>
          <a:xfrm>
            <a:off x="5495925" y="4895850"/>
            <a:ext cx="285750" cy="342900"/>
          </a:xfrm>
          <a:prstGeom prst="rect">
            <a:avLst/>
          </a:prstGeom>
          <a:noFill/>
          <a:ln w="0">
            <a:noFill/>
          </a:ln>
        </p:spPr>
        <p:txBody>
          <a:bodyPr>
            <a:noAutofit/>
          </a:bodyPr>
          <a:lstStyle/>
          <a:p>
            <a:pPr>
              <a:defRPr sz="1800" b="0">
                <a:solidFill>
                  <a:srgbClr val="78967C"/>
                </a:solidFill>
                <a:latin typeface="Arial"/>
                <a:ea typeface="Arial"/>
                <a:cs typeface="Arial"/>
              </a:defRPr>
            </a:pPr>
            <a:r>
              <a:rPr sz="1800" b="0">
                <a:solidFill>
                  <a:srgbClr val="78967C"/>
                </a:solidFill>
                <a:latin typeface="Arial"/>
                <a:ea typeface="Arial"/>
                <a:cs typeface="Arial"/>
              </a:rPr>
              <a:t>4</a:t>
            </a:r>
          </a:p>
        </p:txBody>
      </p:sp>
      <p:sp>
        <p:nvSpPr>
          <p:cNvPr id="22" name="Prepare the next steps">
            <a:extLst>
              <a:ext uri="{FF2B5EF4-FFF2-40B4-BE49-F238E27FC236}">
                <a16:creationId xmlns:a16="http://schemas.microsoft.com/office/drawing/2014/main" id="{CEF9202A-B18C-4060-86F4-0C6525637935}"/>
              </a:ext>
            </a:extLst>
          </p:cNvPr>
          <p:cNvSpPr>
            <a:spLocks noGrp="1"/>
          </p:cNvSpPr>
          <p:nvPr/>
        </p:nvSpPr>
        <p:spPr>
          <a:xfrm>
            <a:off x="5934075" y="4867275"/>
            <a:ext cx="5124450" cy="400050"/>
          </a:xfrm>
          <a:prstGeom prst="rect">
            <a:avLst/>
          </a:prstGeom>
          <a:noFill/>
          <a:ln w="0">
            <a:noFill/>
          </a:ln>
        </p:spPr>
        <p:txBody>
          <a:bodyPr>
            <a:noAutofit/>
          </a:bodyPr>
          <a:lstStyle/>
          <a:p>
            <a:pPr>
              <a:defRPr sz="2025" b="1">
                <a:solidFill>
                  <a:srgbClr val="37352F"/>
                </a:solidFill>
                <a:latin typeface="Arial"/>
                <a:ea typeface="Arial"/>
                <a:cs typeface="Arial"/>
              </a:defRPr>
            </a:pPr>
            <a:r>
              <a:rPr sz="2025" b="1">
                <a:solidFill>
                  <a:srgbClr val="37352F"/>
                </a:solidFill>
                <a:latin typeface="Arial"/>
                <a:ea typeface="Arial"/>
                <a:cs typeface="Arial"/>
              </a:rPr>
              <a:t>Prepare the next steps</a:t>
            </a:r>
          </a:p>
        </p:txBody>
      </p:sp>
      <p:sp>
        <p:nvSpPr>
          <p:cNvPr id="23" name="Qwen analysis">
            <a:extLst>
              <a:ext uri="{FF2B5EF4-FFF2-40B4-BE49-F238E27FC236}">
                <a16:creationId xmlns:a16="http://schemas.microsoft.com/office/drawing/2014/main" id="{AC8D3CD5-AD99-49A0-81F2-0AB77E127BC8}"/>
              </a:ext>
            </a:extLst>
          </p:cNvPr>
          <p:cNvSpPr>
            <a:spLocks noGrp="1"/>
          </p:cNvSpPr>
          <p:nvPr/>
        </p:nvSpPr>
        <p:spPr>
          <a:xfrm>
            <a:off x="5934075" y="5276850"/>
            <a:ext cx="5162550" cy="314325"/>
          </a:xfrm>
          <a:prstGeom prst="rect">
            <a:avLst/>
          </a:prstGeom>
          <a:noFill/>
          <a:ln w="0">
            <a:noFill/>
          </a:ln>
        </p:spPr>
        <p:txBody>
          <a:bodyPr>
            <a:noAutofit/>
          </a:bodyPr>
          <a:lstStyle/>
          <a:p>
            <a:pPr>
              <a:defRPr sz="1650" b="0">
                <a:solidFill>
                  <a:srgbClr val="777970"/>
                </a:solidFill>
                <a:latin typeface="Arial"/>
                <a:ea typeface="Arial"/>
                <a:cs typeface="Arial"/>
              </a:defRPr>
            </a:pPr>
            <a:r>
              <a:rPr sz="1650" b="0">
                <a:solidFill>
                  <a:srgbClr val="777970"/>
                </a:solidFill>
                <a:latin typeface="Arial"/>
                <a:ea typeface="Arial"/>
                <a:cs typeface="Arial"/>
              </a:rPr>
              <a:t>Qwen analysis</a:t>
            </a:r>
          </a:p>
        </p:txBody>
      </p:sp>
      <p:sp>
        <p:nvSpPr>
          <p:cNvPr id="24" name="●  Waiting">
            <a:extLst>
              <a:ext uri="{FF2B5EF4-FFF2-40B4-BE49-F238E27FC236}">
                <a16:creationId xmlns:a16="http://schemas.microsoft.com/office/drawing/2014/main" id="{65E99940-07D8-4CDA-A5F6-ED27202BA9B4}"/>
              </a:ext>
            </a:extLst>
          </p:cNvPr>
          <p:cNvSpPr>
            <a:spLocks noGrp="1"/>
          </p:cNvSpPr>
          <p:nvPr/>
        </p:nvSpPr>
        <p:spPr>
          <a:xfrm>
            <a:off x="5934075" y="5591175"/>
            <a:ext cx="5162550" cy="323850"/>
          </a:xfrm>
          <a:prstGeom prst="rect">
            <a:avLst/>
          </a:prstGeom>
          <a:noFill/>
          <a:ln w="0">
            <a:noFill/>
          </a:ln>
        </p:spPr>
        <p:txBody>
          <a:bodyPr>
            <a:noAutofit/>
          </a:bodyPr>
          <a:lstStyle/>
          <a:p>
            <a:pPr>
              <a:defRPr sz="1575" b="0">
                <a:solidFill>
                  <a:srgbClr val="78967C"/>
                </a:solidFill>
                <a:latin typeface="Arial"/>
                <a:ea typeface="Arial"/>
                <a:cs typeface="Arial"/>
              </a:defRPr>
            </a:pPr>
            <a:r>
              <a:rPr sz="1575" b="0">
                <a:solidFill>
                  <a:srgbClr val="78967C"/>
                </a:solidFill>
                <a:latin typeface="Arial"/>
                <a:ea typeface="Arial"/>
                <a:cs typeface="Arial"/>
              </a:rPr>
              <a:t>●  Waiting</a:t>
            </a:r>
          </a:p>
        </p:txBody>
      </p:sp>
    </p:spTree>
    <p:extLst>
      <p:ext uri="{BB962C8B-B14F-4D97-AF65-F5344CB8AC3E}">
        <p14:creationId xmlns:p14="http://schemas.microsoft.com/office/powerpoint/2010/main" val="1645974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14" name="Qwen explains what blocks launch">
            <a:extLst>
              <a:ext uri="{FF2B5EF4-FFF2-40B4-BE49-F238E27FC236}">
                <a16:creationId xmlns:a16="http://schemas.microsoft.com/office/drawing/2014/main" id="{1A3B9378-C958-4DB2-B97D-8B1E40E7A9B3}"/>
              </a:ext>
            </a:extLst>
          </p:cNvPr>
          <p:cNvSpPr>
            <a:spLocks noGrp="1"/>
          </p:cNvSpPr>
          <p:nvPr/>
        </p:nvSpPr>
        <p:spPr>
          <a:xfrm>
            <a:off x="628650" y="495300"/>
            <a:ext cx="11049000" cy="809625"/>
          </a:xfrm>
          <a:prstGeom prst="rect">
            <a:avLst/>
          </a:prstGeom>
          <a:noFill/>
          <a:ln w="0">
            <a:noFill/>
          </a:ln>
        </p:spPr>
        <p:txBody>
          <a:bodyPr>
            <a:noAutofit/>
          </a:bodyPr>
          <a:lstStyle/>
          <a:p>
            <a:pPr>
              <a:defRPr sz="3600" b="1">
                <a:solidFill>
                  <a:srgbClr val="143F35"/>
                </a:solidFill>
                <a:latin typeface="Arial"/>
                <a:ea typeface="Arial"/>
                <a:cs typeface="Arial"/>
              </a:defRPr>
            </a:pPr>
            <a:r>
              <a:rPr sz="3600" b="1">
                <a:solidFill>
                  <a:srgbClr val="143F35"/>
                </a:solidFill>
                <a:latin typeface="Arial"/>
                <a:ea typeface="Arial"/>
                <a:cs typeface="Arial"/>
              </a:rPr>
              <a:t>Qwen explains what blocks launch</a:t>
            </a:r>
          </a:p>
        </p:txBody>
      </p:sp>
      <p:sp>
        <p:nvSpPr>
          <p:cNvPr id="2" name="Interface surface">
            <a:extLst>
              <a:ext uri="{FF2B5EF4-FFF2-40B4-BE49-F238E27FC236}">
                <a16:creationId xmlns:a16="http://schemas.microsoft.com/office/drawing/2014/main" id="{059200D7-5F4D-4897-9990-BE6B3F5DA18F}"/>
              </a:ext>
            </a:extLst>
          </p:cNvPr>
          <p:cNvSpPr>
            <a:spLocks noGrp="1"/>
          </p:cNvSpPr>
          <p:nvPr/>
        </p:nvSpPr>
        <p:spPr>
          <a:xfrm>
            <a:off x="685800" y="1762125"/>
            <a:ext cx="10820400" cy="4619625"/>
          </a:xfrm>
          <a:prstGeom prst="roundRect">
            <a:avLst>
              <a:gd name="adj" fmla="val 1649"/>
            </a:avLst>
          </a:prstGeom>
          <a:solidFill>
            <a:srgbClr val="FFFFFF"/>
          </a:solidFill>
          <a:ln w="0">
            <a:noFill/>
          </a:ln>
        </p:spPr>
        <p:txBody>
          <a:bodyPr/>
          <a:lstStyle/>
          <a:p>
            <a:endParaRPr lang="en-US"/>
          </a:p>
        </p:txBody>
      </p:sp>
      <p:sp>
        <p:nvSpPr>
          <p:cNvPr id="3" name="Saved execution result">
            <a:extLst>
              <a:ext uri="{FF2B5EF4-FFF2-40B4-BE49-F238E27FC236}">
                <a16:creationId xmlns:a16="http://schemas.microsoft.com/office/drawing/2014/main" id="{09F21B4E-60D3-4F58-9B9B-BB286A8D0E29}"/>
              </a:ext>
            </a:extLst>
          </p:cNvPr>
          <p:cNvSpPr>
            <a:spLocks noGrp="1"/>
          </p:cNvSpPr>
          <p:nvPr/>
        </p:nvSpPr>
        <p:spPr>
          <a:xfrm>
            <a:off x="933450" y="1962150"/>
            <a:ext cx="10325100" cy="428625"/>
          </a:xfrm>
          <a:prstGeom prst="rect">
            <a:avLst/>
          </a:prstGeom>
          <a:noFill/>
          <a:ln w="0">
            <a:noFill/>
          </a:ln>
        </p:spPr>
        <p:txBody>
          <a:bodyPr>
            <a:noAutofit/>
          </a:bodyPr>
          <a:lstStyle/>
          <a:p>
            <a:pPr>
              <a:defRPr sz="2100" b="1">
                <a:solidFill>
                  <a:srgbClr val="37352F"/>
                </a:solidFill>
                <a:latin typeface="Arial"/>
                <a:ea typeface="Arial"/>
                <a:cs typeface="Arial"/>
              </a:defRPr>
            </a:pPr>
            <a:r>
              <a:rPr sz="2100" b="1">
                <a:solidFill>
                  <a:srgbClr val="37352F"/>
                </a:solidFill>
                <a:latin typeface="Arial"/>
                <a:ea typeface="Arial"/>
                <a:cs typeface="Arial"/>
              </a:rPr>
              <a:t>Saved execution result</a:t>
            </a:r>
          </a:p>
        </p:txBody>
      </p:sp>
      <p:sp>
        <p:nvSpPr>
          <p:cNvPr id="4" name="Harbor Finch is not ready for activation. Renew the insurance evidence and complete the compliance review before releasing the order.">
            <a:extLst>
              <a:ext uri="{FF2B5EF4-FFF2-40B4-BE49-F238E27FC236}">
                <a16:creationId xmlns:a16="http://schemas.microsoft.com/office/drawing/2014/main" id="{6054C35E-33B1-4AE0-A4AE-E341E6A7AB30}"/>
              </a:ext>
            </a:extLst>
          </p:cNvPr>
          <p:cNvSpPr>
            <a:spLocks noGrp="1"/>
          </p:cNvSpPr>
          <p:nvPr/>
        </p:nvSpPr>
        <p:spPr>
          <a:xfrm>
            <a:off x="933450" y="2552700"/>
            <a:ext cx="10325100" cy="819150"/>
          </a:xfrm>
          <a:prstGeom prst="rect">
            <a:avLst/>
          </a:prstGeom>
          <a:noFill/>
          <a:ln w="0">
            <a:noFill/>
          </a:ln>
        </p:spPr>
        <p:txBody>
          <a:bodyPr>
            <a:noAutofit/>
          </a:bodyPr>
          <a:lstStyle/>
          <a:p>
            <a:pPr>
              <a:defRPr sz="1950" b="0">
                <a:solidFill>
                  <a:srgbClr val="37352F"/>
                </a:solidFill>
                <a:latin typeface="Arial"/>
                <a:ea typeface="Arial"/>
                <a:cs typeface="Arial"/>
              </a:defRPr>
            </a:pPr>
            <a:r>
              <a:rPr sz="1950" b="0">
                <a:solidFill>
                  <a:srgbClr val="37352F"/>
                </a:solidFill>
                <a:latin typeface="Arial"/>
                <a:ea typeface="Arial"/>
                <a:cs typeface="Arial"/>
              </a:rPr>
              <a:t>Harbor Finch is not ready for activation. Renew the insurance evidence and complete the compliance review before releasing the order.</a:t>
            </a:r>
          </a:p>
        </p:txBody>
      </p:sp>
      <p:sp>
        <p:nvSpPr>
          <p:cNvPr id="5" name="Vendor status is Conditional. Commercial purchase orders are not yet eligible.">
            <a:extLst>
              <a:ext uri="{FF2B5EF4-FFF2-40B4-BE49-F238E27FC236}">
                <a16:creationId xmlns:a16="http://schemas.microsoft.com/office/drawing/2014/main" id="{2182BF84-BF80-4164-B2EA-5668EBC65D45}"/>
              </a:ext>
            </a:extLst>
          </p:cNvPr>
          <p:cNvSpPr>
            <a:spLocks noGrp="1"/>
          </p:cNvSpPr>
          <p:nvPr/>
        </p:nvSpPr>
        <p:spPr>
          <a:xfrm>
            <a:off x="933450" y="3486150"/>
            <a:ext cx="10325100" cy="400050"/>
          </a:xfrm>
          <a:prstGeom prst="rect">
            <a:avLst/>
          </a:prstGeom>
          <a:noFill/>
          <a:ln w="0">
            <a:noFill/>
          </a:ln>
        </p:spPr>
        <p:txBody>
          <a:bodyPr>
            <a:noAutofit/>
          </a:bodyPr>
          <a:lstStyle/>
          <a:p>
            <a:pPr>
              <a:defRPr sz="1800" b="0">
                <a:solidFill>
                  <a:srgbClr val="37352F"/>
                </a:solidFill>
                <a:latin typeface="Arial"/>
                <a:ea typeface="Arial"/>
                <a:cs typeface="Arial"/>
              </a:defRPr>
            </a:pPr>
            <a:r>
              <a:rPr sz="1800" b="0">
                <a:solidFill>
                  <a:srgbClr val="37352F"/>
                </a:solidFill>
                <a:latin typeface="Arial"/>
                <a:ea typeface="Arial"/>
                <a:cs typeface="Arial"/>
              </a:rPr>
              <a:t>Vendor status is Conditional. Commercial purchase orders are not yet eligible.</a:t>
            </a:r>
          </a:p>
        </p:txBody>
      </p:sp>
      <p:sp>
        <p:nvSpPr>
          <p:cNvPr id="6" name="Interface surface">
            <a:extLst>
              <a:ext uri="{FF2B5EF4-FFF2-40B4-BE49-F238E27FC236}">
                <a16:creationId xmlns:a16="http://schemas.microsoft.com/office/drawing/2014/main" id="{EE23A42E-C3DF-4A0E-BBD5-F19A80A26350}"/>
              </a:ext>
            </a:extLst>
          </p:cNvPr>
          <p:cNvSpPr>
            <a:spLocks noGrp="1"/>
          </p:cNvSpPr>
          <p:nvPr/>
        </p:nvSpPr>
        <p:spPr>
          <a:xfrm>
            <a:off x="933450" y="3914775"/>
            <a:ext cx="1857375" cy="352425"/>
          </a:xfrm>
          <a:prstGeom prst="roundRect">
            <a:avLst>
              <a:gd name="adj" fmla="val 21622"/>
            </a:avLst>
          </a:prstGeom>
          <a:solidFill>
            <a:srgbClr val="F5F9FB"/>
          </a:solidFill>
          <a:ln w="9525">
            <a:solidFill>
              <a:srgbClr val="E5EDF2"/>
            </a:solidFill>
          </a:ln>
        </p:spPr>
        <p:txBody>
          <a:bodyPr/>
          <a:lstStyle/>
          <a:p>
            <a:endParaRPr lang="en-US"/>
          </a:p>
        </p:txBody>
      </p:sp>
      <p:sp>
        <p:nvSpPr>
          <p:cNvPr id="7" name="E-status:L11">
            <a:extLst>
              <a:ext uri="{FF2B5EF4-FFF2-40B4-BE49-F238E27FC236}">
                <a16:creationId xmlns:a16="http://schemas.microsoft.com/office/drawing/2014/main" id="{E7EBFFE2-5839-4AE6-9FA3-3985803BA4F0}"/>
              </a:ext>
            </a:extLst>
          </p:cNvPr>
          <p:cNvSpPr>
            <a:spLocks noGrp="1"/>
          </p:cNvSpPr>
          <p:nvPr/>
        </p:nvSpPr>
        <p:spPr>
          <a:xfrm>
            <a:off x="1028700" y="3943350"/>
            <a:ext cx="1666875" cy="295275"/>
          </a:xfrm>
          <a:prstGeom prst="rect">
            <a:avLst/>
          </a:prstGeom>
          <a:noFill/>
          <a:ln w="0">
            <a:noFill/>
          </a:ln>
        </p:spPr>
        <p:txBody>
          <a:bodyPr>
            <a:noAutofit/>
          </a:bodyPr>
          <a:lstStyle/>
          <a:p>
            <a:pPr>
              <a:defRPr sz="1500" b="0">
                <a:solidFill>
                  <a:srgbClr val="45728E"/>
                </a:solidFill>
                <a:latin typeface="Arial"/>
                <a:ea typeface="Arial"/>
                <a:cs typeface="Arial"/>
              </a:defRPr>
            </a:pPr>
            <a:r>
              <a:rPr sz="1500" b="0">
                <a:solidFill>
                  <a:srgbClr val="45728E"/>
                </a:solidFill>
                <a:latin typeface="Arial"/>
                <a:ea typeface="Arial"/>
                <a:cs typeface="Arial"/>
              </a:rPr>
              <a:t>E-status:L11</a:t>
            </a:r>
          </a:p>
        </p:txBody>
      </p:sp>
      <p:sp>
        <p:nvSpPr>
          <p:cNvPr id="8" name="The insurance certificate expired on August 31, before the September 9 review.">
            <a:extLst>
              <a:ext uri="{FF2B5EF4-FFF2-40B4-BE49-F238E27FC236}">
                <a16:creationId xmlns:a16="http://schemas.microsoft.com/office/drawing/2014/main" id="{820B9FEC-3C1A-4B25-BE77-0B139D8A4135}"/>
              </a:ext>
            </a:extLst>
          </p:cNvPr>
          <p:cNvSpPr>
            <a:spLocks noGrp="1"/>
          </p:cNvSpPr>
          <p:nvPr/>
        </p:nvSpPr>
        <p:spPr>
          <a:xfrm>
            <a:off x="933450" y="4362450"/>
            <a:ext cx="10325100" cy="400050"/>
          </a:xfrm>
          <a:prstGeom prst="rect">
            <a:avLst/>
          </a:prstGeom>
          <a:noFill/>
          <a:ln w="0">
            <a:noFill/>
          </a:ln>
        </p:spPr>
        <p:txBody>
          <a:bodyPr>
            <a:noAutofit/>
          </a:bodyPr>
          <a:lstStyle/>
          <a:p>
            <a:pPr>
              <a:defRPr sz="1800" b="0">
                <a:solidFill>
                  <a:srgbClr val="37352F"/>
                </a:solidFill>
                <a:latin typeface="Arial"/>
                <a:ea typeface="Arial"/>
                <a:cs typeface="Arial"/>
              </a:defRPr>
            </a:pPr>
            <a:r>
              <a:rPr sz="1800" b="0">
                <a:solidFill>
                  <a:srgbClr val="37352F"/>
                </a:solidFill>
                <a:latin typeface="Arial"/>
                <a:ea typeface="Arial"/>
                <a:cs typeface="Arial"/>
              </a:rPr>
              <a:t>The insurance certificate expired on August 31, before the September 9 review.</a:t>
            </a:r>
          </a:p>
        </p:txBody>
      </p:sp>
      <p:sp>
        <p:nvSpPr>
          <p:cNvPr id="9" name="Interface surface">
            <a:extLst>
              <a:ext uri="{FF2B5EF4-FFF2-40B4-BE49-F238E27FC236}">
                <a16:creationId xmlns:a16="http://schemas.microsoft.com/office/drawing/2014/main" id="{6C62864D-C34B-4866-BC2A-9997D3C5C777}"/>
              </a:ext>
            </a:extLst>
          </p:cNvPr>
          <p:cNvSpPr>
            <a:spLocks noGrp="1"/>
          </p:cNvSpPr>
          <p:nvPr/>
        </p:nvSpPr>
        <p:spPr>
          <a:xfrm>
            <a:off x="933450" y="4791075"/>
            <a:ext cx="1857375" cy="352425"/>
          </a:xfrm>
          <a:prstGeom prst="roundRect">
            <a:avLst>
              <a:gd name="adj" fmla="val 21622"/>
            </a:avLst>
          </a:prstGeom>
          <a:solidFill>
            <a:srgbClr val="F5F9FB"/>
          </a:solidFill>
          <a:ln w="9525">
            <a:solidFill>
              <a:srgbClr val="E5EDF2"/>
            </a:solidFill>
          </a:ln>
        </p:spPr>
        <p:txBody>
          <a:bodyPr/>
          <a:lstStyle/>
          <a:p>
            <a:endParaRPr lang="en-US"/>
          </a:p>
        </p:txBody>
      </p:sp>
      <p:sp>
        <p:nvSpPr>
          <p:cNvPr id="10" name="E-insurance:L15">
            <a:extLst>
              <a:ext uri="{FF2B5EF4-FFF2-40B4-BE49-F238E27FC236}">
                <a16:creationId xmlns:a16="http://schemas.microsoft.com/office/drawing/2014/main" id="{E78356B2-C37F-43E8-A353-E9D5B57E2BC6}"/>
              </a:ext>
            </a:extLst>
          </p:cNvPr>
          <p:cNvSpPr>
            <a:spLocks noGrp="1"/>
          </p:cNvSpPr>
          <p:nvPr/>
        </p:nvSpPr>
        <p:spPr>
          <a:xfrm>
            <a:off x="1028700" y="4819650"/>
            <a:ext cx="1666875" cy="295275"/>
          </a:xfrm>
          <a:prstGeom prst="rect">
            <a:avLst/>
          </a:prstGeom>
          <a:noFill/>
          <a:ln w="0">
            <a:noFill/>
          </a:ln>
        </p:spPr>
        <p:txBody>
          <a:bodyPr>
            <a:noAutofit/>
          </a:bodyPr>
          <a:lstStyle/>
          <a:p>
            <a:pPr>
              <a:defRPr sz="1500" b="0">
                <a:solidFill>
                  <a:srgbClr val="45728E"/>
                </a:solidFill>
                <a:latin typeface="Arial"/>
                <a:ea typeface="Arial"/>
                <a:cs typeface="Arial"/>
              </a:defRPr>
            </a:pPr>
            <a:r>
              <a:rPr sz="1500" b="0">
                <a:solidFill>
                  <a:srgbClr val="45728E"/>
                </a:solidFill>
                <a:latin typeface="Arial"/>
                <a:ea typeface="Arial"/>
                <a:cs typeface="Arial"/>
              </a:rPr>
              <a:t>E-insurance:L15</a:t>
            </a:r>
          </a:p>
        </p:txBody>
      </p:sp>
      <p:sp>
        <p:nvSpPr>
          <p:cNvPr id="11" name="PO 78431 remains a working draft. It has no transmission ID.">
            <a:extLst>
              <a:ext uri="{FF2B5EF4-FFF2-40B4-BE49-F238E27FC236}">
                <a16:creationId xmlns:a16="http://schemas.microsoft.com/office/drawing/2014/main" id="{A0BD57B6-58E9-4587-AE02-401542CBBE85}"/>
              </a:ext>
            </a:extLst>
          </p:cNvPr>
          <p:cNvSpPr>
            <a:spLocks noGrp="1"/>
          </p:cNvSpPr>
          <p:nvPr/>
        </p:nvSpPr>
        <p:spPr>
          <a:xfrm>
            <a:off x="933450" y="5238750"/>
            <a:ext cx="10325100" cy="400050"/>
          </a:xfrm>
          <a:prstGeom prst="rect">
            <a:avLst/>
          </a:prstGeom>
          <a:noFill/>
          <a:ln w="0">
            <a:noFill/>
          </a:ln>
        </p:spPr>
        <p:txBody>
          <a:bodyPr>
            <a:noAutofit/>
          </a:bodyPr>
          <a:lstStyle/>
          <a:p>
            <a:pPr>
              <a:defRPr sz="1800" b="0">
                <a:solidFill>
                  <a:srgbClr val="37352F"/>
                </a:solidFill>
                <a:latin typeface="Arial"/>
                <a:ea typeface="Arial"/>
                <a:cs typeface="Arial"/>
              </a:defRPr>
            </a:pPr>
            <a:r>
              <a:rPr sz="1800" b="0">
                <a:solidFill>
                  <a:srgbClr val="37352F"/>
                </a:solidFill>
                <a:latin typeface="Arial"/>
                <a:ea typeface="Arial"/>
                <a:cs typeface="Arial"/>
              </a:rPr>
              <a:t>PO 78431 remains a working draft. It has no transmission ID.</a:t>
            </a:r>
          </a:p>
        </p:txBody>
      </p:sp>
      <p:sp>
        <p:nvSpPr>
          <p:cNvPr id="12" name="Interface surface">
            <a:extLst>
              <a:ext uri="{FF2B5EF4-FFF2-40B4-BE49-F238E27FC236}">
                <a16:creationId xmlns:a16="http://schemas.microsoft.com/office/drawing/2014/main" id="{47F3FFDE-F268-4F9C-969A-EBA1EC05AF93}"/>
              </a:ext>
            </a:extLst>
          </p:cNvPr>
          <p:cNvSpPr>
            <a:spLocks noGrp="1"/>
          </p:cNvSpPr>
          <p:nvPr/>
        </p:nvSpPr>
        <p:spPr>
          <a:xfrm>
            <a:off x="933450" y="5667375"/>
            <a:ext cx="1857375" cy="352425"/>
          </a:xfrm>
          <a:prstGeom prst="roundRect">
            <a:avLst>
              <a:gd name="adj" fmla="val 21622"/>
            </a:avLst>
          </a:prstGeom>
          <a:solidFill>
            <a:srgbClr val="F5F9FB"/>
          </a:solidFill>
          <a:ln w="9525">
            <a:solidFill>
              <a:srgbClr val="E5EDF2"/>
            </a:solidFill>
          </a:ln>
        </p:spPr>
        <p:txBody>
          <a:bodyPr/>
          <a:lstStyle/>
          <a:p>
            <a:endParaRPr lang="en-US"/>
          </a:p>
        </p:txBody>
      </p:sp>
      <p:sp>
        <p:nvSpPr>
          <p:cNvPr id="13" name="E-order:L4">
            <a:extLst>
              <a:ext uri="{FF2B5EF4-FFF2-40B4-BE49-F238E27FC236}">
                <a16:creationId xmlns:a16="http://schemas.microsoft.com/office/drawing/2014/main" id="{9A4660FF-02EF-454A-A078-2901FD3888A9}"/>
              </a:ext>
            </a:extLst>
          </p:cNvPr>
          <p:cNvSpPr>
            <a:spLocks noGrp="1"/>
          </p:cNvSpPr>
          <p:nvPr/>
        </p:nvSpPr>
        <p:spPr>
          <a:xfrm>
            <a:off x="1028700" y="5695950"/>
            <a:ext cx="1666875" cy="295275"/>
          </a:xfrm>
          <a:prstGeom prst="rect">
            <a:avLst/>
          </a:prstGeom>
          <a:noFill/>
          <a:ln w="0">
            <a:noFill/>
          </a:ln>
        </p:spPr>
        <p:txBody>
          <a:bodyPr>
            <a:noAutofit/>
          </a:bodyPr>
          <a:lstStyle/>
          <a:p>
            <a:pPr>
              <a:defRPr sz="1500" b="0">
                <a:solidFill>
                  <a:srgbClr val="45728E"/>
                </a:solidFill>
                <a:latin typeface="Arial"/>
                <a:ea typeface="Arial"/>
                <a:cs typeface="Arial"/>
              </a:defRPr>
            </a:pPr>
            <a:r>
              <a:rPr sz="1500" b="0">
                <a:solidFill>
                  <a:srgbClr val="45728E"/>
                </a:solidFill>
                <a:latin typeface="Arial"/>
                <a:ea typeface="Arial"/>
                <a:cs typeface="Arial"/>
              </a:rPr>
              <a:t>E-order:L4</a:t>
            </a:r>
          </a:p>
        </p:txBody>
      </p:sp>
    </p:spTree>
    <p:extLst>
      <p:ext uri="{BB962C8B-B14F-4D97-AF65-F5344CB8AC3E}">
        <p14:creationId xmlns:p14="http://schemas.microsoft.com/office/powerpoint/2010/main" val="1754289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3F35"/>
        </a:solidFill>
        <a:effectLst/>
      </p:bgPr>
    </p:bg>
    <p:spTree>
      <p:nvGrpSpPr>
        <p:cNvPr id="1" name=""/>
        <p:cNvGrpSpPr/>
        <p:nvPr/>
      </p:nvGrpSpPr>
      <p:grpSpPr>
        <a:xfrm>
          <a:off x="0" y="0"/>
          <a:ext cx="0" cy="0"/>
          <a:chOff x="0" y="0"/>
          <a:chExt cx="0" cy="0"/>
        </a:xfrm>
      </p:grpSpPr>
      <p:sp>
        <p:nvSpPr>
          <p:cNvPr id="15" name="One click to the source">
            <a:extLst>
              <a:ext uri="{FF2B5EF4-FFF2-40B4-BE49-F238E27FC236}">
                <a16:creationId xmlns:a16="http://schemas.microsoft.com/office/drawing/2014/main" id="{9695D0EE-EA3C-4F11-A9B1-3372EE70E1A4}"/>
              </a:ext>
            </a:extLst>
          </p:cNvPr>
          <p:cNvSpPr>
            <a:spLocks noGrp="1"/>
          </p:cNvSpPr>
          <p:nvPr/>
        </p:nvSpPr>
        <p:spPr>
          <a:xfrm>
            <a:off x="628650" y="476250"/>
            <a:ext cx="11049000" cy="742950"/>
          </a:xfrm>
          <a:prstGeom prst="rect">
            <a:avLst/>
          </a:prstGeom>
          <a:noFill/>
          <a:ln w="0">
            <a:noFill/>
          </a:ln>
        </p:spPr>
        <p:txBody>
          <a:bodyPr>
            <a:noAutofit/>
          </a:bodyPr>
          <a:lstStyle/>
          <a:p>
            <a:pPr>
              <a:defRPr sz="3900" b="1">
                <a:solidFill>
                  <a:srgbClr val="FFFFFF"/>
                </a:solidFill>
                <a:latin typeface="Arial"/>
                <a:ea typeface="Arial"/>
                <a:cs typeface="Arial"/>
              </a:defRPr>
            </a:pPr>
            <a:r>
              <a:rPr sz="3900" b="1">
                <a:solidFill>
                  <a:srgbClr val="FFFFFF"/>
                </a:solidFill>
                <a:latin typeface="Arial"/>
                <a:ea typeface="Arial"/>
                <a:cs typeface="Arial"/>
              </a:rPr>
              <a:t>One click to the source</a:t>
            </a:r>
          </a:p>
        </p:txBody>
      </p:sp>
      <p:sp>
        <p:nvSpPr>
          <p:cNvPr id="2" name="Interface surface">
            <a:extLst>
              <a:ext uri="{FF2B5EF4-FFF2-40B4-BE49-F238E27FC236}">
                <a16:creationId xmlns:a16="http://schemas.microsoft.com/office/drawing/2014/main" id="{F341680C-8E9C-48FA-A342-1A221B506556}"/>
              </a:ext>
            </a:extLst>
          </p:cNvPr>
          <p:cNvSpPr>
            <a:spLocks noGrp="1"/>
          </p:cNvSpPr>
          <p:nvPr/>
        </p:nvSpPr>
        <p:spPr>
          <a:xfrm>
            <a:off x="628650" y="1638300"/>
            <a:ext cx="10858500" cy="1714500"/>
          </a:xfrm>
          <a:prstGeom prst="roundRect">
            <a:avLst>
              <a:gd name="adj" fmla="val 4444"/>
            </a:avLst>
          </a:prstGeom>
          <a:solidFill>
            <a:srgbClr val="FFFFFF"/>
          </a:solidFill>
          <a:ln w="0">
            <a:noFill/>
          </a:ln>
        </p:spPr>
        <p:txBody>
          <a:bodyPr/>
          <a:lstStyle/>
          <a:p>
            <a:endParaRPr lang="en-US"/>
          </a:p>
        </p:txBody>
      </p:sp>
      <p:sp>
        <p:nvSpPr>
          <p:cNvPr id="3" name="⌄  The insurance certificate expired on August 31, before the September 9 review.">
            <a:extLst>
              <a:ext uri="{FF2B5EF4-FFF2-40B4-BE49-F238E27FC236}">
                <a16:creationId xmlns:a16="http://schemas.microsoft.com/office/drawing/2014/main" id="{A3722201-B1F6-46F9-807B-399F22C6273B}"/>
              </a:ext>
            </a:extLst>
          </p:cNvPr>
          <p:cNvSpPr>
            <a:spLocks noGrp="1"/>
          </p:cNvSpPr>
          <p:nvPr/>
        </p:nvSpPr>
        <p:spPr>
          <a:xfrm>
            <a:off x="885825" y="1933575"/>
            <a:ext cx="10344150" cy="714375"/>
          </a:xfrm>
          <a:prstGeom prst="rect">
            <a:avLst/>
          </a:prstGeom>
          <a:noFill/>
          <a:ln w="0">
            <a:noFill/>
          </a:ln>
        </p:spPr>
        <p:txBody>
          <a:bodyPr>
            <a:noAutofit/>
          </a:bodyPr>
          <a:lstStyle/>
          <a:p>
            <a:pPr>
              <a:defRPr sz="2025" b="0">
                <a:solidFill>
                  <a:srgbClr val="37352F"/>
                </a:solidFill>
                <a:latin typeface="Arial"/>
                <a:ea typeface="Arial"/>
                <a:cs typeface="Arial"/>
              </a:defRPr>
            </a:pPr>
            <a:r>
              <a:rPr sz="2025" b="0">
                <a:solidFill>
                  <a:srgbClr val="37352F"/>
                </a:solidFill>
                <a:latin typeface="Arial"/>
                <a:ea typeface="Arial"/>
                <a:cs typeface="Arial"/>
              </a:rPr>
              <a:t>⌄  The insurance certificate expired on August 31, before the September 9 review.</a:t>
            </a:r>
          </a:p>
        </p:txBody>
      </p:sp>
      <p:sp>
        <p:nvSpPr>
          <p:cNvPr id="4" name="Interface surface">
            <a:extLst>
              <a:ext uri="{FF2B5EF4-FFF2-40B4-BE49-F238E27FC236}">
                <a16:creationId xmlns:a16="http://schemas.microsoft.com/office/drawing/2014/main" id="{480ED738-1C1B-443B-B4CD-EF61259101CB}"/>
              </a:ext>
            </a:extLst>
          </p:cNvPr>
          <p:cNvSpPr>
            <a:spLocks noGrp="1"/>
          </p:cNvSpPr>
          <p:nvPr/>
        </p:nvSpPr>
        <p:spPr>
          <a:xfrm>
            <a:off x="1152525" y="2752725"/>
            <a:ext cx="2857500" cy="352425"/>
          </a:xfrm>
          <a:prstGeom prst="roundRect">
            <a:avLst>
              <a:gd name="adj" fmla="val 21622"/>
            </a:avLst>
          </a:prstGeom>
          <a:solidFill>
            <a:srgbClr val="F5F9FB"/>
          </a:solidFill>
          <a:ln w="9525">
            <a:solidFill>
              <a:srgbClr val="E5EDF2"/>
            </a:solidFill>
          </a:ln>
        </p:spPr>
        <p:txBody>
          <a:bodyPr/>
          <a:lstStyle/>
          <a:p>
            <a:endParaRPr lang="en-US"/>
          </a:p>
        </p:txBody>
      </p:sp>
      <p:sp>
        <p:nvSpPr>
          <p:cNvPr id="5" name="Document · line 15">
            <a:extLst>
              <a:ext uri="{FF2B5EF4-FFF2-40B4-BE49-F238E27FC236}">
                <a16:creationId xmlns:a16="http://schemas.microsoft.com/office/drawing/2014/main" id="{6B2638AF-4E29-4937-B7A7-30B40F572DC3}"/>
              </a:ext>
            </a:extLst>
          </p:cNvPr>
          <p:cNvSpPr>
            <a:spLocks noGrp="1"/>
          </p:cNvSpPr>
          <p:nvPr/>
        </p:nvSpPr>
        <p:spPr>
          <a:xfrm>
            <a:off x="1247775" y="2781300"/>
            <a:ext cx="2667000" cy="295275"/>
          </a:xfrm>
          <a:prstGeom prst="rect">
            <a:avLst/>
          </a:prstGeom>
          <a:noFill/>
          <a:ln w="0">
            <a:noFill/>
          </a:ln>
        </p:spPr>
        <p:txBody>
          <a:bodyPr>
            <a:noAutofit/>
          </a:bodyPr>
          <a:lstStyle/>
          <a:p>
            <a:pPr>
              <a:defRPr sz="1800" b="0">
                <a:solidFill>
                  <a:srgbClr val="45728E"/>
                </a:solidFill>
                <a:latin typeface="Arial"/>
                <a:ea typeface="Arial"/>
                <a:cs typeface="Arial"/>
              </a:defRPr>
            </a:pPr>
            <a:r>
              <a:rPr sz="1800" b="0">
                <a:solidFill>
                  <a:srgbClr val="45728E"/>
                </a:solidFill>
                <a:latin typeface="Arial"/>
                <a:ea typeface="Arial"/>
                <a:cs typeface="Arial"/>
              </a:rPr>
              <a:t>Document · line 15</a:t>
            </a:r>
          </a:p>
        </p:txBody>
      </p:sp>
      <p:sp>
        <p:nvSpPr>
          <p:cNvPr id="6" name="Interface surface">
            <a:extLst>
              <a:ext uri="{FF2B5EF4-FFF2-40B4-BE49-F238E27FC236}">
                <a16:creationId xmlns:a16="http://schemas.microsoft.com/office/drawing/2014/main" id="{61E898F5-2B6E-4602-88D6-A2EC51412D86}"/>
              </a:ext>
            </a:extLst>
          </p:cNvPr>
          <p:cNvSpPr>
            <a:spLocks noGrp="1"/>
          </p:cNvSpPr>
          <p:nvPr/>
        </p:nvSpPr>
        <p:spPr>
          <a:xfrm>
            <a:off x="628650" y="4210050"/>
            <a:ext cx="10858500" cy="2228850"/>
          </a:xfrm>
          <a:prstGeom prst="roundRect">
            <a:avLst>
              <a:gd name="adj" fmla="val 3419"/>
            </a:avLst>
          </a:prstGeom>
          <a:solidFill>
            <a:srgbClr val="FFFFFF"/>
          </a:solidFill>
          <a:ln w="0">
            <a:noFill/>
          </a:ln>
        </p:spPr>
        <p:txBody>
          <a:bodyPr/>
          <a:lstStyle/>
          <a:p>
            <a:endParaRPr lang="en-US"/>
          </a:p>
        </p:txBody>
      </p:sp>
      <p:sp>
        <p:nvSpPr>
          <p:cNvPr id="7" name="L12: Commercial General Liability">
            <a:extLst>
              <a:ext uri="{FF2B5EF4-FFF2-40B4-BE49-F238E27FC236}">
                <a16:creationId xmlns:a16="http://schemas.microsoft.com/office/drawing/2014/main" id="{A53F3C02-49A8-42E4-A265-1AB4FE01C062}"/>
              </a:ext>
            </a:extLst>
          </p:cNvPr>
          <p:cNvSpPr>
            <a:spLocks noGrp="1"/>
          </p:cNvSpPr>
          <p:nvPr/>
        </p:nvSpPr>
        <p:spPr>
          <a:xfrm>
            <a:off x="866775" y="4305300"/>
            <a:ext cx="10382250" cy="342900"/>
          </a:xfrm>
          <a:prstGeom prst="rect">
            <a:avLst/>
          </a:prstGeom>
          <a:noFill/>
          <a:ln w="0">
            <a:noFill/>
          </a:ln>
        </p:spPr>
        <p:txBody>
          <a:bodyPr>
            <a:noAutofit/>
          </a:bodyPr>
          <a:lstStyle/>
          <a:p>
            <a:pPr>
              <a:defRPr sz="1875" b="0">
                <a:solidFill>
                  <a:srgbClr val="37352F"/>
                </a:solidFill>
                <a:latin typeface="Consolas"/>
                <a:ea typeface="Consolas"/>
                <a:cs typeface="Consolas"/>
              </a:defRPr>
            </a:pPr>
            <a:r>
              <a:rPr sz="1875" b="0">
                <a:solidFill>
                  <a:srgbClr val="37352F"/>
                </a:solidFill>
                <a:latin typeface="Consolas"/>
                <a:ea typeface="Consolas"/>
                <a:cs typeface="Consolas"/>
              </a:rPr>
              <a:t>L12: Commercial General Liability</a:t>
            </a:r>
          </a:p>
        </p:txBody>
      </p:sp>
      <p:sp>
        <p:nvSpPr>
          <p:cNvPr id="8" name="L13: - Policy number: CGL-HF-773104">
            <a:extLst>
              <a:ext uri="{FF2B5EF4-FFF2-40B4-BE49-F238E27FC236}">
                <a16:creationId xmlns:a16="http://schemas.microsoft.com/office/drawing/2014/main" id="{F011D432-23B8-4F8E-B353-E3B1DBCBB329}"/>
              </a:ext>
            </a:extLst>
          </p:cNvPr>
          <p:cNvSpPr>
            <a:spLocks noGrp="1"/>
          </p:cNvSpPr>
          <p:nvPr/>
        </p:nvSpPr>
        <p:spPr>
          <a:xfrm>
            <a:off x="866775" y="4638675"/>
            <a:ext cx="10382250" cy="342900"/>
          </a:xfrm>
          <a:prstGeom prst="rect">
            <a:avLst/>
          </a:prstGeom>
          <a:noFill/>
          <a:ln w="0">
            <a:noFill/>
          </a:ln>
        </p:spPr>
        <p:txBody>
          <a:bodyPr>
            <a:noAutofit/>
          </a:bodyPr>
          <a:lstStyle/>
          <a:p>
            <a:pPr>
              <a:defRPr sz="1875" b="0">
                <a:solidFill>
                  <a:srgbClr val="37352F"/>
                </a:solidFill>
                <a:latin typeface="Consolas"/>
                <a:ea typeface="Consolas"/>
                <a:cs typeface="Consolas"/>
              </a:defRPr>
            </a:pPr>
            <a:r>
              <a:rPr sz="1875" b="0">
                <a:solidFill>
                  <a:srgbClr val="37352F"/>
                </a:solidFill>
                <a:latin typeface="Consolas"/>
                <a:ea typeface="Consolas"/>
                <a:cs typeface="Consolas"/>
              </a:rPr>
              <a:t>L13: - Policy number: CGL-HF-773104</a:t>
            </a:r>
          </a:p>
        </p:txBody>
      </p:sp>
      <p:sp>
        <p:nvSpPr>
          <p:cNvPr id="9" name="L14: - Policy effective date: September 1, 2025">
            <a:extLst>
              <a:ext uri="{FF2B5EF4-FFF2-40B4-BE49-F238E27FC236}">
                <a16:creationId xmlns:a16="http://schemas.microsoft.com/office/drawing/2014/main" id="{879E3448-7BE6-48A9-B75A-B847BD86B60E}"/>
              </a:ext>
            </a:extLst>
          </p:cNvPr>
          <p:cNvSpPr>
            <a:spLocks noGrp="1"/>
          </p:cNvSpPr>
          <p:nvPr/>
        </p:nvSpPr>
        <p:spPr>
          <a:xfrm>
            <a:off x="866775" y="4972050"/>
            <a:ext cx="10382250" cy="342900"/>
          </a:xfrm>
          <a:prstGeom prst="rect">
            <a:avLst/>
          </a:prstGeom>
          <a:noFill/>
          <a:ln w="0">
            <a:noFill/>
          </a:ln>
        </p:spPr>
        <p:txBody>
          <a:bodyPr>
            <a:noAutofit/>
          </a:bodyPr>
          <a:lstStyle/>
          <a:p>
            <a:pPr>
              <a:defRPr sz="1875" b="0">
                <a:solidFill>
                  <a:srgbClr val="37352F"/>
                </a:solidFill>
                <a:latin typeface="Consolas"/>
                <a:ea typeface="Consolas"/>
                <a:cs typeface="Consolas"/>
              </a:defRPr>
            </a:pPr>
            <a:r>
              <a:rPr sz="1875" b="0">
                <a:solidFill>
                  <a:srgbClr val="37352F"/>
                </a:solidFill>
                <a:latin typeface="Consolas"/>
                <a:ea typeface="Consolas"/>
                <a:cs typeface="Consolas"/>
              </a:rPr>
              <a:t>L14: - Policy effective date: September 1, 2025</a:t>
            </a:r>
          </a:p>
        </p:txBody>
      </p:sp>
      <p:sp>
        <p:nvSpPr>
          <p:cNvPr id="10" name="Interface surface">
            <a:extLst>
              <a:ext uri="{FF2B5EF4-FFF2-40B4-BE49-F238E27FC236}">
                <a16:creationId xmlns:a16="http://schemas.microsoft.com/office/drawing/2014/main" id="{12386A27-EA1E-453A-8EAF-94CF4EDFAA82}"/>
              </a:ext>
            </a:extLst>
          </p:cNvPr>
          <p:cNvSpPr>
            <a:spLocks noGrp="1"/>
          </p:cNvSpPr>
          <p:nvPr/>
        </p:nvSpPr>
        <p:spPr>
          <a:xfrm>
            <a:off x="771525" y="5305425"/>
            <a:ext cx="10572750" cy="333375"/>
          </a:xfrm>
          <a:prstGeom prst="roundRect">
            <a:avLst>
              <a:gd name="adj" fmla="val 22857"/>
            </a:avLst>
          </a:prstGeom>
          <a:solidFill>
            <a:srgbClr val="FFF1BB"/>
          </a:solidFill>
          <a:ln w="0">
            <a:noFill/>
          </a:ln>
        </p:spPr>
        <p:txBody>
          <a:bodyPr/>
          <a:lstStyle/>
          <a:p>
            <a:endParaRPr lang="en-US"/>
          </a:p>
        </p:txBody>
      </p:sp>
      <p:sp>
        <p:nvSpPr>
          <p:cNvPr id="11" name="L15: - Policy expiration date: August 31, 2026">
            <a:extLst>
              <a:ext uri="{FF2B5EF4-FFF2-40B4-BE49-F238E27FC236}">
                <a16:creationId xmlns:a16="http://schemas.microsoft.com/office/drawing/2014/main" id="{61AEEF7A-0F24-465C-98B9-C4ECF5475C33}"/>
              </a:ext>
            </a:extLst>
          </p:cNvPr>
          <p:cNvSpPr>
            <a:spLocks noGrp="1"/>
          </p:cNvSpPr>
          <p:nvPr/>
        </p:nvSpPr>
        <p:spPr>
          <a:xfrm>
            <a:off x="866775" y="5305425"/>
            <a:ext cx="10382250" cy="342900"/>
          </a:xfrm>
          <a:prstGeom prst="rect">
            <a:avLst/>
          </a:prstGeom>
          <a:noFill/>
          <a:ln w="0">
            <a:noFill/>
          </a:ln>
        </p:spPr>
        <p:txBody>
          <a:bodyPr>
            <a:noAutofit/>
          </a:bodyPr>
          <a:lstStyle/>
          <a:p>
            <a:pPr>
              <a:defRPr sz="1875" b="0">
                <a:solidFill>
                  <a:srgbClr val="37352F"/>
                </a:solidFill>
                <a:latin typeface="Consolas"/>
                <a:ea typeface="Consolas"/>
                <a:cs typeface="Consolas"/>
              </a:defRPr>
            </a:pPr>
            <a:r>
              <a:rPr sz="1875" b="0">
                <a:solidFill>
                  <a:srgbClr val="37352F"/>
                </a:solidFill>
                <a:latin typeface="Consolas"/>
                <a:ea typeface="Consolas"/>
                <a:cs typeface="Consolas"/>
              </a:rPr>
              <a:t>L15: - Policy expiration date: August 31, 2026</a:t>
            </a:r>
          </a:p>
        </p:txBody>
      </p:sp>
      <p:sp>
        <p:nvSpPr>
          <p:cNvPr id="12" name="L16: - Each occurrence: $2,000,000">
            <a:extLst>
              <a:ext uri="{FF2B5EF4-FFF2-40B4-BE49-F238E27FC236}">
                <a16:creationId xmlns:a16="http://schemas.microsoft.com/office/drawing/2014/main" id="{CCAE57CC-E11B-47A0-A4E3-6CF8A397FEE6}"/>
              </a:ext>
            </a:extLst>
          </p:cNvPr>
          <p:cNvSpPr>
            <a:spLocks noGrp="1"/>
          </p:cNvSpPr>
          <p:nvPr/>
        </p:nvSpPr>
        <p:spPr>
          <a:xfrm>
            <a:off x="866775" y="5638800"/>
            <a:ext cx="10382250" cy="342900"/>
          </a:xfrm>
          <a:prstGeom prst="rect">
            <a:avLst/>
          </a:prstGeom>
          <a:noFill/>
          <a:ln w="0">
            <a:noFill/>
          </a:ln>
        </p:spPr>
        <p:txBody>
          <a:bodyPr>
            <a:noAutofit/>
          </a:bodyPr>
          <a:lstStyle/>
          <a:p>
            <a:pPr>
              <a:defRPr sz="1875" b="0">
                <a:solidFill>
                  <a:srgbClr val="37352F"/>
                </a:solidFill>
                <a:latin typeface="Consolas"/>
                <a:ea typeface="Consolas"/>
                <a:cs typeface="Consolas"/>
              </a:defRPr>
            </a:pPr>
            <a:r>
              <a:rPr sz="1875" b="0">
                <a:solidFill>
                  <a:srgbClr val="37352F"/>
                </a:solidFill>
                <a:latin typeface="Consolas"/>
                <a:ea typeface="Consolas"/>
                <a:cs typeface="Consolas"/>
              </a:rPr>
              <a:t>L16: - Each occurrence: $2,000,000</a:t>
            </a:r>
          </a:p>
        </p:txBody>
      </p:sp>
      <p:sp>
        <p:nvSpPr>
          <p:cNvPr id="13" name="L17: - General aggregate: $4,000,000">
            <a:extLst>
              <a:ext uri="{FF2B5EF4-FFF2-40B4-BE49-F238E27FC236}">
                <a16:creationId xmlns:a16="http://schemas.microsoft.com/office/drawing/2014/main" id="{CE8C1E3D-A428-45A7-9C80-0574CCE3553A}"/>
              </a:ext>
            </a:extLst>
          </p:cNvPr>
          <p:cNvSpPr>
            <a:spLocks noGrp="1"/>
          </p:cNvSpPr>
          <p:nvPr/>
        </p:nvSpPr>
        <p:spPr>
          <a:xfrm>
            <a:off x="866775" y="5972175"/>
            <a:ext cx="10382250" cy="342900"/>
          </a:xfrm>
          <a:prstGeom prst="rect">
            <a:avLst/>
          </a:prstGeom>
          <a:noFill/>
          <a:ln w="0">
            <a:noFill/>
          </a:ln>
        </p:spPr>
        <p:txBody>
          <a:bodyPr>
            <a:noAutofit/>
          </a:bodyPr>
          <a:lstStyle/>
          <a:p>
            <a:pPr>
              <a:defRPr sz="1875" b="0">
                <a:solidFill>
                  <a:srgbClr val="37352F"/>
                </a:solidFill>
                <a:latin typeface="Consolas"/>
                <a:ea typeface="Consolas"/>
                <a:cs typeface="Consolas"/>
              </a:defRPr>
            </a:pPr>
            <a:r>
              <a:rPr sz="1875" b="0">
                <a:solidFill>
                  <a:srgbClr val="37352F"/>
                </a:solidFill>
                <a:latin typeface="Consolas"/>
                <a:ea typeface="Consolas"/>
                <a:cs typeface="Consolas"/>
              </a:rPr>
              <a:t>L17: - General aggregate: $4,000,000</a:t>
            </a:r>
          </a:p>
        </p:txBody>
      </p:sp>
      <p:sp>
        <p:nvSpPr>
          <p:cNvPr id="14" name="The cited line">
            <a:extLst>
              <a:ext uri="{FF2B5EF4-FFF2-40B4-BE49-F238E27FC236}">
                <a16:creationId xmlns:a16="http://schemas.microsoft.com/office/drawing/2014/main" id="{6B9E5F6C-8F42-4B77-B5B6-586C91F41421}"/>
              </a:ext>
            </a:extLst>
          </p:cNvPr>
          <p:cNvSpPr>
            <a:spLocks noGrp="1"/>
          </p:cNvSpPr>
          <p:nvPr/>
        </p:nvSpPr>
        <p:spPr>
          <a:xfrm>
            <a:off x="628650" y="3590925"/>
            <a:ext cx="10477500" cy="438150"/>
          </a:xfrm>
          <a:prstGeom prst="rect">
            <a:avLst/>
          </a:prstGeom>
          <a:noFill/>
          <a:ln w="0">
            <a:noFill/>
          </a:ln>
        </p:spPr>
        <p:txBody>
          <a:bodyPr>
            <a:noAutofit/>
          </a:bodyPr>
          <a:lstStyle/>
          <a:p>
            <a:pPr>
              <a:defRPr sz="2100" b="0">
                <a:solidFill>
                  <a:srgbClr val="DDEFE4"/>
                </a:solidFill>
                <a:latin typeface="Arial"/>
                <a:ea typeface="Arial"/>
                <a:cs typeface="Arial"/>
              </a:defRPr>
            </a:pPr>
            <a:r>
              <a:rPr sz="2100" b="0">
                <a:solidFill>
                  <a:srgbClr val="DDEFE4"/>
                </a:solidFill>
                <a:latin typeface="Arial"/>
                <a:ea typeface="Arial"/>
                <a:cs typeface="Arial"/>
              </a:rPr>
              <a:t>The cited line</a:t>
            </a:r>
          </a:p>
        </p:txBody>
      </p:sp>
    </p:spTree>
    <p:extLst>
      <p:ext uri="{BB962C8B-B14F-4D97-AF65-F5344CB8AC3E}">
        <p14:creationId xmlns:p14="http://schemas.microsoft.com/office/powerpoint/2010/main" val="116468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10" name="A clear task for a person">
            <a:extLst>
              <a:ext uri="{FF2B5EF4-FFF2-40B4-BE49-F238E27FC236}">
                <a16:creationId xmlns:a16="http://schemas.microsoft.com/office/drawing/2014/main" id="{471B2720-CAD3-470E-8847-31A87877722E}"/>
              </a:ext>
            </a:extLst>
          </p:cNvPr>
          <p:cNvSpPr>
            <a:spLocks noGrp="1"/>
          </p:cNvSpPr>
          <p:nvPr/>
        </p:nvSpPr>
        <p:spPr>
          <a:xfrm>
            <a:off x="628650" y="495300"/>
            <a:ext cx="10953750" cy="819150"/>
          </a:xfrm>
          <a:prstGeom prst="rect">
            <a:avLst/>
          </a:prstGeom>
          <a:noFill/>
          <a:ln w="0">
            <a:noFill/>
          </a:ln>
        </p:spPr>
        <p:txBody>
          <a:bodyPr>
            <a:noAutofit/>
          </a:bodyPr>
          <a:lstStyle/>
          <a:p>
            <a:pPr>
              <a:defRPr sz="4050" b="1">
                <a:solidFill>
                  <a:srgbClr val="143F35"/>
                </a:solidFill>
                <a:latin typeface="Arial"/>
                <a:ea typeface="Arial"/>
                <a:cs typeface="Arial"/>
              </a:defRPr>
            </a:pPr>
            <a:r>
              <a:rPr sz="4050" b="1">
                <a:solidFill>
                  <a:srgbClr val="143F35"/>
                </a:solidFill>
                <a:latin typeface="Arial"/>
                <a:ea typeface="Arial"/>
                <a:cs typeface="Arial"/>
              </a:rPr>
              <a:t>A clear task for a person</a:t>
            </a:r>
          </a:p>
        </p:txBody>
      </p:sp>
      <p:sp>
        <p:nvSpPr>
          <p:cNvPr id="2" name="Interface surface">
            <a:extLst>
              <a:ext uri="{FF2B5EF4-FFF2-40B4-BE49-F238E27FC236}">
                <a16:creationId xmlns:a16="http://schemas.microsoft.com/office/drawing/2014/main" id="{ACBBBE75-B713-42F8-B080-5162DE1183DC}"/>
              </a:ext>
            </a:extLst>
          </p:cNvPr>
          <p:cNvSpPr>
            <a:spLocks noGrp="1"/>
          </p:cNvSpPr>
          <p:nvPr/>
        </p:nvSpPr>
        <p:spPr>
          <a:xfrm>
            <a:off x="781050" y="1809750"/>
            <a:ext cx="10629900" cy="4286250"/>
          </a:xfrm>
          <a:prstGeom prst="roundRect">
            <a:avLst>
              <a:gd name="adj" fmla="val 1778"/>
            </a:avLst>
          </a:prstGeom>
          <a:solidFill>
            <a:srgbClr val="FFFFFF"/>
          </a:solidFill>
          <a:ln w="0">
            <a:noFill/>
          </a:ln>
        </p:spPr>
        <p:txBody>
          <a:bodyPr/>
          <a:lstStyle/>
          <a:p>
            <a:endParaRPr lang="en-US"/>
          </a:p>
        </p:txBody>
      </p:sp>
      <p:sp>
        <p:nvSpPr>
          <p:cNvPr id="3" name="Task T3">
            <a:extLst>
              <a:ext uri="{FF2B5EF4-FFF2-40B4-BE49-F238E27FC236}">
                <a16:creationId xmlns:a16="http://schemas.microsoft.com/office/drawing/2014/main" id="{9F1D30BF-F1D5-40AB-B0D1-155936711CE0}"/>
              </a:ext>
            </a:extLst>
          </p:cNvPr>
          <p:cNvSpPr>
            <a:spLocks noGrp="1"/>
          </p:cNvSpPr>
          <p:nvPr/>
        </p:nvSpPr>
        <p:spPr>
          <a:xfrm>
            <a:off x="1066800" y="1962150"/>
            <a:ext cx="10058400" cy="333375"/>
          </a:xfrm>
          <a:prstGeom prst="rect">
            <a:avLst/>
          </a:prstGeom>
          <a:noFill/>
          <a:ln w="0">
            <a:noFill/>
          </a:ln>
        </p:spPr>
        <p:txBody>
          <a:bodyPr>
            <a:noAutofit/>
          </a:bodyPr>
          <a:lstStyle/>
          <a:p>
            <a:pPr>
              <a:defRPr sz="1800" b="0">
                <a:solidFill>
                  <a:srgbClr val="777970"/>
                </a:solidFill>
                <a:latin typeface="Arial"/>
                <a:ea typeface="Arial"/>
                <a:cs typeface="Arial"/>
              </a:defRPr>
            </a:pPr>
            <a:r>
              <a:rPr sz="1800" b="0">
                <a:solidFill>
                  <a:srgbClr val="777970"/>
                </a:solidFill>
                <a:latin typeface="Arial"/>
                <a:ea typeface="Arial"/>
                <a:cs typeface="Arial"/>
              </a:rPr>
              <a:t>Task T3</a:t>
            </a:r>
          </a:p>
        </p:txBody>
      </p:sp>
      <p:sp>
        <p:nvSpPr>
          <p:cNvPr id="4" name="Review activation conditions">
            <a:extLst>
              <a:ext uri="{FF2B5EF4-FFF2-40B4-BE49-F238E27FC236}">
                <a16:creationId xmlns:a16="http://schemas.microsoft.com/office/drawing/2014/main" id="{1D89C44F-785B-4939-AB67-DF2B83FFD5F0}"/>
              </a:ext>
            </a:extLst>
          </p:cNvPr>
          <p:cNvSpPr>
            <a:spLocks noGrp="1"/>
          </p:cNvSpPr>
          <p:nvPr/>
        </p:nvSpPr>
        <p:spPr>
          <a:xfrm>
            <a:off x="1066800" y="2476500"/>
            <a:ext cx="10058400" cy="476250"/>
          </a:xfrm>
          <a:prstGeom prst="rect">
            <a:avLst/>
          </a:prstGeom>
          <a:noFill/>
          <a:ln w="0">
            <a:noFill/>
          </a:ln>
        </p:spPr>
        <p:txBody>
          <a:bodyPr>
            <a:noAutofit/>
          </a:bodyPr>
          <a:lstStyle/>
          <a:p>
            <a:pPr>
              <a:defRPr sz="2400" b="1">
                <a:solidFill>
                  <a:srgbClr val="37352F"/>
                </a:solidFill>
                <a:latin typeface="Arial"/>
                <a:ea typeface="Arial"/>
                <a:cs typeface="Arial"/>
              </a:defRPr>
            </a:pPr>
            <a:r>
              <a:rPr sz="2400" b="1">
                <a:solidFill>
                  <a:srgbClr val="37352F"/>
                </a:solidFill>
                <a:latin typeface="Arial"/>
                <a:ea typeface="Arial"/>
                <a:cs typeface="Arial"/>
              </a:rPr>
              <a:t>Review activation conditions</a:t>
            </a:r>
          </a:p>
        </p:txBody>
      </p:sp>
      <p:sp>
        <p:nvSpPr>
          <p:cNvPr id="5" name="● Needs Human     Human">
            <a:extLst>
              <a:ext uri="{FF2B5EF4-FFF2-40B4-BE49-F238E27FC236}">
                <a16:creationId xmlns:a16="http://schemas.microsoft.com/office/drawing/2014/main" id="{53F02C09-1F23-4D39-B810-6AAF5C8D0238}"/>
              </a:ext>
            </a:extLst>
          </p:cNvPr>
          <p:cNvSpPr>
            <a:spLocks noGrp="1"/>
          </p:cNvSpPr>
          <p:nvPr/>
        </p:nvSpPr>
        <p:spPr>
          <a:xfrm>
            <a:off x="1066800" y="3057525"/>
            <a:ext cx="10058400" cy="381000"/>
          </a:xfrm>
          <a:prstGeom prst="rect">
            <a:avLst/>
          </a:prstGeom>
          <a:noFill/>
          <a:ln w="0">
            <a:noFill/>
          </a:ln>
        </p:spPr>
        <p:txBody>
          <a:bodyPr>
            <a:noAutofit/>
          </a:bodyPr>
          <a:lstStyle/>
          <a:p>
            <a:pPr>
              <a:defRPr sz="1800" b="0">
                <a:solidFill>
                  <a:srgbClr val="AD8B4C"/>
                </a:solidFill>
                <a:latin typeface="Arial"/>
                <a:ea typeface="Arial"/>
                <a:cs typeface="Arial"/>
              </a:defRPr>
            </a:pPr>
            <a:r>
              <a:rPr sz="1800" b="0">
                <a:solidFill>
                  <a:srgbClr val="AD8B4C"/>
                </a:solidFill>
                <a:latin typeface="Arial"/>
                <a:ea typeface="Arial"/>
                <a:cs typeface="Arial"/>
              </a:rPr>
              <a:t>● Needs Human     Human</a:t>
            </a:r>
          </a:p>
        </p:txBody>
      </p:sp>
      <p:sp>
        <p:nvSpPr>
          <p:cNvPr id="6" name="Task objective">
            <a:extLst>
              <a:ext uri="{FF2B5EF4-FFF2-40B4-BE49-F238E27FC236}">
                <a16:creationId xmlns:a16="http://schemas.microsoft.com/office/drawing/2014/main" id="{6BC80C5D-E9FD-4D33-88CE-233B7774947B}"/>
              </a:ext>
            </a:extLst>
          </p:cNvPr>
          <p:cNvSpPr>
            <a:spLocks noGrp="1"/>
          </p:cNvSpPr>
          <p:nvPr/>
        </p:nvSpPr>
        <p:spPr>
          <a:xfrm>
            <a:off x="1066800" y="3724275"/>
            <a:ext cx="10058400" cy="333375"/>
          </a:xfrm>
          <a:prstGeom prst="rect">
            <a:avLst/>
          </a:prstGeom>
          <a:noFill/>
          <a:ln w="0">
            <a:noFill/>
          </a:ln>
        </p:spPr>
        <p:txBody>
          <a:bodyPr>
            <a:noAutofit/>
          </a:bodyPr>
          <a:lstStyle/>
          <a:p>
            <a:pPr>
              <a:defRPr sz="1800" b="0">
                <a:solidFill>
                  <a:srgbClr val="777970"/>
                </a:solidFill>
                <a:latin typeface="Arial"/>
                <a:ea typeface="Arial"/>
                <a:cs typeface="Arial"/>
              </a:defRPr>
            </a:pPr>
            <a:r>
              <a:rPr sz="1800" b="0">
                <a:solidFill>
                  <a:srgbClr val="777970"/>
                </a:solidFill>
                <a:latin typeface="Arial"/>
                <a:ea typeface="Arial"/>
                <a:cs typeface="Arial"/>
              </a:rPr>
              <a:t>Task objective</a:t>
            </a:r>
          </a:p>
        </p:txBody>
      </p:sp>
      <p:sp>
        <p:nvSpPr>
          <p:cNvPr id="7" name="Review the missing evidence and resolve the activation decision within Vendor Compliance authority.">
            <a:extLst>
              <a:ext uri="{FF2B5EF4-FFF2-40B4-BE49-F238E27FC236}">
                <a16:creationId xmlns:a16="http://schemas.microsoft.com/office/drawing/2014/main" id="{5536859F-CC89-468A-A865-0CE5FBE527E7}"/>
              </a:ext>
            </a:extLst>
          </p:cNvPr>
          <p:cNvSpPr>
            <a:spLocks noGrp="1"/>
          </p:cNvSpPr>
          <p:nvPr/>
        </p:nvSpPr>
        <p:spPr>
          <a:xfrm>
            <a:off x="1066800" y="4143375"/>
            <a:ext cx="10058400" cy="800100"/>
          </a:xfrm>
          <a:prstGeom prst="rect">
            <a:avLst/>
          </a:prstGeom>
          <a:noFill/>
          <a:ln w="0">
            <a:noFill/>
          </a:ln>
        </p:spPr>
        <p:txBody>
          <a:bodyPr>
            <a:noAutofit/>
          </a:bodyPr>
          <a:lstStyle/>
          <a:p>
            <a:pPr>
              <a:defRPr sz="2175" b="0">
                <a:solidFill>
                  <a:srgbClr val="37352F"/>
                </a:solidFill>
                <a:latin typeface="Arial"/>
                <a:ea typeface="Arial"/>
                <a:cs typeface="Arial"/>
              </a:defRPr>
            </a:pPr>
            <a:r>
              <a:rPr sz="2175" b="0">
                <a:solidFill>
                  <a:srgbClr val="37352F"/>
                </a:solidFill>
                <a:latin typeface="Arial"/>
                <a:ea typeface="Arial"/>
                <a:cs typeface="Arial"/>
              </a:rPr>
              <a:t>Review the missing evidence and resolve the activation decision within Vendor Compliance authority.</a:t>
            </a:r>
          </a:p>
        </p:txBody>
      </p:sp>
      <p:sp>
        <p:nvSpPr>
          <p:cNvPr id="8" name="Why this executor">
            <a:extLst>
              <a:ext uri="{FF2B5EF4-FFF2-40B4-BE49-F238E27FC236}">
                <a16:creationId xmlns:a16="http://schemas.microsoft.com/office/drawing/2014/main" id="{5498225C-E782-4387-B923-D16C65310D7D}"/>
              </a:ext>
            </a:extLst>
          </p:cNvPr>
          <p:cNvSpPr>
            <a:spLocks noGrp="1"/>
          </p:cNvSpPr>
          <p:nvPr/>
        </p:nvSpPr>
        <p:spPr>
          <a:xfrm>
            <a:off x="1066800" y="5086350"/>
            <a:ext cx="10058400" cy="333375"/>
          </a:xfrm>
          <a:prstGeom prst="rect">
            <a:avLst/>
          </a:prstGeom>
          <a:noFill/>
          <a:ln w="0">
            <a:noFill/>
          </a:ln>
        </p:spPr>
        <p:txBody>
          <a:bodyPr>
            <a:noAutofit/>
          </a:bodyPr>
          <a:lstStyle/>
          <a:p>
            <a:pPr>
              <a:defRPr sz="1800" b="0">
                <a:solidFill>
                  <a:srgbClr val="777970"/>
                </a:solidFill>
                <a:latin typeface="Arial"/>
                <a:ea typeface="Arial"/>
                <a:cs typeface="Arial"/>
              </a:defRPr>
            </a:pPr>
            <a:r>
              <a:rPr sz="1800" b="0">
                <a:solidFill>
                  <a:srgbClr val="777970"/>
                </a:solidFill>
                <a:latin typeface="Arial"/>
                <a:ea typeface="Arial"/>
                <a:cs typeface="Arial"/>
              </a:rPr>
              <a:t>Why this executor</a:t>
            </a:r>
          </a:p>
        </p:txBody>
      </p:sp>
      <p:sp>
        <p:nvSpPr>
          <p:cNvPr id="9" name="The remaining decision requires a person with the right business authority.">
            <a:extLst>
              <a:ext uri="{FF2B5EF4-FFF2-40B4-BE49-F238E27FC236}">
                <a16:creationId xmlns:a16="http://schemas.microsoft.com/office/drawing/2014/main" id="{A46D9698-2BED-4706-B413-CEA69AF8C27A}"/>
              </a:ext>
            </a:extLst>
          </p:cNvPr>
          <p:cNvSpPr>
            <a:spLocks noGrp="1"/>
          </p:cNvSpPr>
          <p:nvPr/>
        </p:nvSpPr>
        <p:spPr>
          <a:xfrm>
            <a:off x="1066800" y="5495925"/>
            <a:ext cx="10058400" cy="552450"/>
          </a:xfrm>
          <a:prstGeom prst="rect">
            <a:avLst/>
          </a:prstGeom>
          <a:noFill/>
          <a:ln w="0">
            <a:noFill/>
          </a:ln>
        </p:spPr>
        <p:txBody>
          <a:bodyPr>
            <a:noAutofit/>
          </a:bodyPr>
          <a:lstStyle/>
          <a:p>
            <a:pPr>
              <a:defRPr sz="2025" b="0">
                <a:solidFill>
                  <a:srgbClr val="37352F"/>
                </a:solidFill>
                <a:latin typeface="Arial"/>
                <a:ea typeface="Arial"/>
                <a:cs typeface="Arial"/>
              </a:defRPr>
            </a:pPr>
            <a:r>
              <a:rPr sz="2025" b="0">
                <a:solidFill>
                  <a:srgbClr val="37352F"/>
                </a:solidFill>
                <a:latin typeface="Arial"/>
                <a:ea typeface="Arial"/>
                <a:cs typeface="Arial"/>
              </a:rPr>
              <a:t>The remaining decision requires a person with the right business authority.</a:t>
            </a:r>
          </a:p>
        </p:txBody>
      </p:sp>
    </p:spTree>
    <p:extLst>
      <p:ext uri="{BB962C8B-B14F-4D97-AF65-F5344CB8AC3E}">
        <p14:creationId xmlns:p14="http://schemas.microsoft.com/office/powerpoint/2010/main" val="75728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DEFE4"/>
        </a:solidFill>
        <a:effectLst/>
      </p:bgPr>
    </p:bg>
    <p:spTree>
      <p:nvGrpSpPr>
        <p:cNvPr id="1" name=""/>
        <p:cNvGrpSpPr/>
        <p:nvPr/>
      </p:nvGrpSpPr>
      <p:grpSpPr>
        <a:xfrm>
          <a:off x="0" y="0"/>
          <a:ext cx="0" cy="0"/>
          <a:chOff x="0" y="0"/>
          <a:chExt cx="0" cy="0"/>
        </a:xfrm>
      </p:grpSpPr>
      <p:sp>
        <p:nvSpPr>
          <p:cNvPr id="13" name="Local Qwen on GB10">
            <a:extLst>
              <a:ext uri="{FF2B5EF4-FFF2-40B4-BE49-F238E27FC236}">
                <a16:creationId xmlns:a16="http://schemas.microsoft.com/office/drawing/2014/main" id="{93639442-CDFF-475B-8408-5133A0C9ED27}"/>
              </a:ext>
            </a:extLst>
          </p:cNvPr>
          <p:cNvSpPr>
            <a:spLocks noGrp="1"/>
          </p:cNvSpPr>
          <p:nvPr/>
        </p:nvSpPr>
        <p:spPr>
          <a:xfrm>
            <a:off x="571500" y="428625"/>
            <a:ext cx="10953750" cy="723900"/>
          </a:xfrm>
          <a:prstGeom prst="rect">
            <a:avLst/>
          </a:prstGeom>
          <a:noFill/>
          <a:ln w="0">
            <a:noFill/>
          </a:ln>
        </p:spPr>
        <p:txBody>
          <a:bodyPr>
            <a:noAutofit/>
          </a:bodyPr>
          <a:lstStyle/>
          <a:p>
            <a:pPr>
              <a:defRPr sz="3750" b="1">
                <a:solidFill>
                  <a:srgbClr val="143F35"/>
                </a:solidFill>
                <a:latin typeface="Arial"/>
                <a:ea typeface="Arial"/>
                <a:cs typeface="Arial"/>
              </a:defRPr>
            </a:pPr>
            <a:r>
              <a:rPr sz="3750" b="1">
                <a:solidFill>
                  <a:srgbClr val="143F35"/>
                </a:solidFill>
                <a:latin typeface="Arial"/>
                <a:ea typeface="Arial"/>
                <a:cs typeface="Arial"/>
              </a:rPr>
              <a:t>Local Qwen on GB10</a:t>
            </a:r>
          </a:p>
        </p:txBody>
      </p:sp>
      <p:graphicFrame>
        <p:nvGraphicFramePr>
          <p:cNvPr id="14" name="Chart"/>
          <p:cNvGraphicFramePr/>
          <p:nvPr/>
        </p:nvGraphicFramePr>
        <p:xfrm>
          <a:off x="504825" y="2238375"/>
          <a:ext cx="4543425"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3" name="Planning time">
            <a:extLst>
              <a:ext uri="{FF2B5EF4-FFF2-40B4-BE49-F238E27FC236}">
                <a16:creationId xmlns:a16="http://schemas.microsoft.com/office/drawing/2014/main" id="{DE2D4147-6AA6-4A89-B6DF-1E7A12A76043}"/>
              </a:ext>
            </a:extLst>
          </p:cNvPr>
          <p:cNvSpPr>
            <a:spLocks noGrp="1"/>
          </p:cNvSpPr>
          <p:nvPr/>
        </p:nvSpPr>
        <p:spPr>
          <a:xfrm>
            <a:off x="600075" y="1685925"/>
            <a:ext cx="4429125" cy="485775"/>
          </a:xfrm>
          <a:prstGeom prst="rect">
            <a:avLst/>
          </a:prstGeom>
          <a:noFill/>
          <a:ln w="0">
            <a:noFill/>
          </a:ln>
        </p:spPr>
        <p:txBody>
          <a:bodyPr>
            <a:noAutofit/>
          </a:bodyPr>
          <a:lstStyle/>
          <a:p>
            <a:pPr>
              <a:defRPr sz="2325" b="1">
                <a:solidFill>
                  <a:srgbClr val="143F35"/>
                </a:solidFill>
                <a:latin typeface="Arial"/>
                <a:ea typeface="Arial"/>
                <a:cs typeface="Arial"/>
              </a:defRPr>
            </a:pPr>
            <a:r>
              <a:rPr sz="2325" b="1">
                <a:solidFill>
                  <a:srgbClr val="143F35"/>
                </a:solidFill>
                <a:latin typeface="Arial"/>
                <a:ea typeface="Arial"/>
                <a:cs typeface="Arial"/>
              </a:rPr>
              <a:t>Planning time</a:t>
            </a:r>
          </a:p>
        </p:txBody>
      </p:sp>
      <p:sp>
        <p:nvSpPr>
          <p:cNvPr id="4" name="Same files. One comparison.">
            <a:extLst>
              <a:ext uri="{FF2B5EF4-FFF2-40B4-BE49-F238E27FC236}">
                <a16:creationId xmlns:a16="http://schemas.microsoft.com/office/drawing/2014/main" id="{0A77D202-2DC9-4256-8603-3D0C0A541935}"/>
              </a:ext>
            </a:extLst>
          </p:cNvPr>
          <p:cNvSpPr>
            <a:spLocks noGrp="1"/>
          </p:cNvSpPr>
          <p:nvPr/>
        </p:nvSpPr>
        <p:spPr>
          <a:xfrm>
            <a:off x="600075" y="4953000"/>
            <a:ext cx="4429125" cy="666750"/>
          </a:xfrm>
          <a:prstGeom prst="rect">
            <a:avLst/>
          </a:prstGeom>
          <a:noFill/>
          <a:ln w="0">
            <a:noFill/>
          </a:ln>
        </p:spPr>
        <p:txBody>
          <a:bodyPr>
            <a:noAutofit/>
          </a:bodyPr>
          <a:lstStyle/>
          <a:p>
            <a:pPr>
              <a:defRPr sz="1875" b="0">
                <a:solidFill>
                  <a:srgbClr val="547064"/>
                </a:solidFill>
                <a:latin typeface="Arial"/>
                <a:ea typeface="Arial"/>
                <a:cs typeface="Arial"/>
              </a:defRPr>
            </a:pPr>
            <a:r>
              <a:rPr sz="1875" b="0">
                <a:solidFill>
                  <a:srgbClr val="547064"/>
                </a:solidFill>
                <a:latin typeface="Arial"/>
                <a:ea typeface="Arial"/>
                <a:cs typeface="Arial"/>
              </a:rPr>
              <a:t>Same files. One comparison.</a:t>
            </a:r>
          </a:p>
        </p:txBody>
      </p:sp>
      <p:sp>
        <p:nvSpPr>
          <p:cNvPr id="5" name="Interface surface">
            <a:extLst>
              <a:ext uri="{FF2B5EF4-FFF2-40B4-BE49-F238E27FC236}">
                <a16:creationId xmlns:a16="http://schemas.microsoft.com/office/drawing/2014/main" id="{84DD3790-02C3-44F7-90A7-7EE4D8A36CEC}"/>
              </a:ext>
            </a:extLst>
          </p:cNvPr>
          <p:cNvSpPr>
            <a:spLocks noGrp="1"/>
          </p:cNvSpPr>
          <p:nvPr/>
        </p:nvSpPr>
        <p:spPr>
          <a:xfrm>
            <a:off x="5324475" y="2219325"/>
            <a:ext cx="6296025" cy="2676525"/>
          </a:xfrm>
          <a:prstGeom prst="roundRect">
            <a:avLst>
              <a:gd name="adj" fmla="val 2847"/>
            </a:avLst>
          </a:prstGeom>
          <a:solidFill>
            <a:srgbClr val="FFFFFF"/>
          </a:solidFill>
          <a:ln w="0">
            <a:noFill/>
          </a:ln>
        </p:spPr>
        <p:txBody>
          <a:bodyPr/>
          <a:lstStyle/>
          <a:p>
            <a:endParaRPr lang="en-US"/>
          </a:p>
        </p:txBody>
      </p:sp>
      <p:sp>
        <p:nvSpPr>
          <p:cNvPr id="6" name="Task T2">
            <a:extLst>
              <a:ext uri="{FF2B5EF4-FFF2-40B4-BE49-F238E27FC236}">
                <a16:creationId xmlns:a16="http://schemas.microsoft.com/office/drawing/2014/main" id="{DDBE5457-52A5-49EC-9783-92B59A6C19B9}"/>
              </a:ext>
            </a:extLst>
          </p:cNvPr>
          <p:cNvSpPr>
            <a:spLocks noGrp="1"/>
          </p:cNvSpPr>
          <p:nvPr/>
        </p:nvSpPr>
        <p:spPr>
          <a:xfrm>
            <a:off x="5493723" y="2309591"/>
            <a:ext cx="5957529" cy="197456"/>
          </a:xfrm>
          <a:prstGeom prst="rect">
            <a:avLst/>
          </a:prstGeom>
          <a:noFill/>
          <a:ln w="0">
            <a:noFill/>
          </a:ln>
        </p:spPr>
        <p:txBody>
          <a:bodyPr>
            <a:noAutofit/>
          </a:bodyPr>
          <a:lstStyle/>
          <a:p>
            <a:pPr>
              <a:defRPr sz="1066" b="0">
                <a:solidFill>
                  <a:srgbClr val="777970"/>
                </a:solidFill>
                <a:latin typeface="Arial"/>
                <a:ea typeface="Arial"/>
                <a:cs typeface="Arial"/>
              </a:defRPr>
            </a:pPr>
            <a:r>
              <a:rPr sz="1066" b="0">
                <a:solidFill>
                  <a:srgbClr val="777970"/>
                </a:solidFill>
                <a:latin typeface="Arial"/>
                <a:ea typeface="Arial"/>
                <a:cs typeface="Arial"/>
              </a:rPr>
              <a:t>Task T2</a:t>
            </a:r>
          </a:p>
        </p:txBody>
      </p:sp>
      <p:sp>
        <p:nvSpPr>
          <p:cNvPr id="7" name="Assess launch readiness">
            <a:extLst>
              <a:ext uri="{FF2B5EF4-FFF2-40B4-BE49-F238E27FC236}">
                <a16:creationId xmlns:a16="http://schemas.microsoft.com/office/drawing/2014/main" id="{6918099F-9CCF-4D9A-8B29-27E666715A82}"/>
              </a:ext>
            </a:extLst>
          </p:cNvPr>
          <p:cNvSpPr>
            <a:spLocks noGrp="1"/>
          </p:cNvSpPr>
          <p:nvPr/>
        </p:nvSpPr>
        <p:spPr>
          <a:xfrm>
            <a:off x="5493723" y="2614237"/>
            <a:ext cx="5957529" cy="282080"/>
          </a:xfrm>
          <a:prstGeom prst="rect">
            <a:avLst/>
          </a:prstGeom>
          <a:noFill/>
          <a:ln w="0">
            <a:noFill/>
          </a:ln>
        </p:spPr>
        <p:txBody>
          <a:bodyPr>
            <a:noAutofit/>
          </a:bodyPr>
          <a:lstStyle/>
          <a:p>
            <a:pPr>
              <a:defRPr sz="1422" b="1">
                <a:solidFill>
                  <a:srgbClr val="37352F"/>
                </a:solidFill>
                <a:latin typeface="Arial"/>
                <a:ea typeface="Arial"/>
                <a:cs typeface="Arial"/>
              </a:defRPr>
            </a:pPr>
            <a:r>
              <a:rPr sz="1422" b="1">
                <a:solidFill>
                  <a:srgbClr val="37352F"/>
                </a:solidFill>
                <a:latin typeface="Arial"/>
                <a:ea typeface="Arial"/>
                <a:cs typeface="Arial"/>
              </a:rPr>
              <a:t>Assess launch readiness</a:t>
            </a:r>
          </a:p>
        </p:txBody>
      </p:sp>
      <p:sp>
        <p:nvSpPr>
          <p:cNvPr id="8" name="● Completed     Local AI">
            <a:extLst>
              <a:ext uri="{FF2B5EF4-FFF2-40B4-BE49-F238E27FC236}">
                <a16:creationId xmlns:a16="http://schemas.microsoft.com/office/drawing/2014/main" id="{EDF6E18F-47FD-4945-A4F4-DC361227C72F}"/>
              </a:ext>
            </a:extLst>
          </p:cNvPr>
          <p:cNvSpPr>
            <a:spLocks noGrp="1"/>
          </p:cNvSpPr>
          <p:nvPr/>
        </p:nvSpPr>
        <p:spPr>
          <a:xfrm>
            <a:off x="5493723" y="2958375"/>
            <a:ext cx="5957529" cy="225664"/>
          </a:xfrm>
          <a:prstGeom prst="rect">
            <a:avLst/>
          </a:prstGeom>
          <a:noFill/>
          <a:ln w="0">
            <a:noFill/>
          </a:ln>
        </p:spPr>
        <p:txBody>
          <a:bodyPr>
            <a:noAutofit/>
          </a:bodyPr>
          <a:lstStyle/>
          <a:p>
            <a:pPr>
              <a:defRPr sz="1066" b="0">
                <a:solidFill>
                  <a:srgbClr val="78967C"/>
                </a:solidFill>
                <a:latin typeface="Arial"/>
                <a:ea typeface="Arial"/>
                <a:cs typeface="Arial"/>
              </a:defRPr>
            </a:pPr>
            <a:r>
              <a:rPr sz="1066" b="0">
                <a:solidFill>
                  <a:srgbClr val="78967C"/>
                </a:solidFill>
                <a:latin typeface="Arial"/>
                <a:ea typeface="Arial"/>
                <a:cs typeface="Arial"/>
              </a:rPr>
              <a:t>● Completed     Local AI</a:t>
            </a:r>
          </a:p>
        </p:txBody>
      </p:sp>
      <p:sp>
        <p:nvSpPr>
          <p:cNvPr id="9" name="Task objective">
            <a:extLst>
              <a:ext uri="{FF2B5EF4-FFF2-40B4-BE49-F238E27FC236}">
                <a16:creationId xmlns:a16="http://schemas.microsoft.com/office/drawing/2014/main" id="{10343866-FCC7-489B-8B50-F2ECC8874459}"/>
              </a:ext>
            </a:extLst>
          </p:cNvPr>
          <p:cNvSpPr>
            <a:spLocks noGrp="1"/>
          </p:cNvSpPr>
          <p:nvPr/>
        </p:nvSpPr>
        <p:spPr>
          <a:xfrm>
            <a:off x="5493723" y="3353286"/>
            <a:ext cx="5957529" cy="197456"/>
          </a:xfrm>
          <a:prstGeom prst="rect">
            <a:avLst/>
          </a:prstGeom>
          <a:noFill/>
          <a:ln w="0">
            <a:noFill/>
          </a:ln>
        </p:spPr>
        <p:txBody>
          <a:bodyPr>
            <a:noAutofit/>
          </a:bodyPr>
          <a:lstStyle/>
          <a:p>
            <a:pPr>
              <a:defRPr sz="1066" b="0">
                <a:solidFill>
                  <a:srgbClr val="777970"/>
                </a:solidFill>
                <a:latin typeface="Arial"/>
                <a:ea typeface="Arial"/>
                <a:cs typeface="Arial"/>
              </a:defRPr>
            </a:pPr>
            <a:r>
              <a:rPr sz="1066" b="0">
                <a:solidFill>
                  <a:srgbClr val="777970"/>
                </a:solidFill>
                <a:latin typeface="Arial"/>
                <a:ea typeface="Arial"/>
                <a:cs typeface="Arial"/>
              </a:rPr>
              <a:t>Task objective</a:t>
            </a:r>
          </a:p>
        </p:txBody>
      </p:sp>
      <p:sp>
        <p:nvSpPr>
          <p:cNvPr id="10" name="Explain what still prevents activation, with a source for every finding.">
            <a:extLst>
              <a:ext uri="{FF2B5EF4-FFF2-40B4-BE49-F238E27FC236}">
                <a16:creationId xmlns:a16="http://schemas.microsoft.com/office/drawing/2014/main" id="{77B38A47-BBAA-4683-AB68-8B46A6A36286}"/>
              </a:ext>
            </a:extLst>
          </p:cNvPr>
          <p:cNvSpPr>
            <a:spLocks noGrp="1"/>
          </p:cNvSpPr>
          <p:nvPr/>
        </p:nvSpPr>
        <p:spPr>
          <a:xfrm>
            <a:off x="5493723" y="3601517"/>
            <a:ext cx="5957529" cy="473894"/>
          </a:xfrm>
          <a:prstGeom prst="rect">
            <a:avLst/>
          </a:prstGeom>
          <a:noFill/>
          <a:ln w="0">
            <a:noFill/>
          </a:ln>
        </p:spPr>
        <p:txBody>
          <a:bodyPr>
            <a:noAutofit/>
          </a:bodyPr>
          <a:lstStyle/>
          <a:p>
            <a:pPr>
              <a:defRPr sz="1288" b="0">
                <a:solidFill>
                  <a:srgbClr val="37352F"/>
                </a:solidFill>
                <a:latin typeface="Arial"/>
                <a:ea typeface="Arial"/>
                <a:cs typeface="Arial"/>
              </a:defRPr>
            </a:pPr>
            <a:r>
              <a:rPr sz="1288" b="0">
                <a:solidFill>
                  <a:srgbClr val="37352F"/>
                </a:solidFill>
                <a:latin typeface="Arial"/>
                <a:ea typeface="Arial"/>
                <a:cs typeface="Arial"/>
              </a:rPr>
              <a:t>Explain what still prevents activation, with a source for every finding.</a:t>
            </a:r>
          </a:p>
        </p:txBody>
      </p:sp>
      <p:sp>
        <p:nvSpPr>
          <p:cNvPr id="11" name="Why this executor">
            <a:extLst>
              <a:ext uri="{FF2B5EF4-FFF2-40B4-BE49-F238E27FC236}">
                <a16:creationId xmlns:a16="http://schemas.microsoft.com/office/drawing/2014/main" id="{E67045F6-BB2E-44EA-BA52-149B1C875103}"/>
              </a:ext>
            </a:extLst>
          </p:cNvPr>
          <p:cNvSpPr>
            <a:spLocks noGrp="1"/>
          </p:cNvSpPr>
          <p:nvPr/>
        </p:nvSpPr>
        <p:spPr>
          <a:xfrm>
            <a:off x="5493723" y="4160035"/>
            <a:ext cx="5957529" cy="197456"/>
          </a:xfrm>
          <a:prstGeom prst="rect">
            <a:avLst/>
          </a:prstGeom>
          <a:noFill/>
          <a:ln w="0">
            <a:noFill/>
          </a:ln>
        </p:spPr>
        <p:txBody>
          <a:bodyPr>
            <a:noAutofit/>
          </a:bodyPr>
          <a:lstStyle/>
          <a:p>
            <a:pPr>
              <a:defRPr sz="1066" b="0">
                <a:solidFill>
                  <a:srgbClr val="777970"/>
                </a:solidFill>
                <a:latin typeface="Arial"/>
                <a:ea typeface="Arial"/>
                <a:cs typeface="Arial"/>
              </a:defRPr>
            </a:pPr>
            <a:r>
              <a:rPr sz="1066" b="0">
                <a:solidFill>
                  <a:srgbClr val="777970"/>
                </a:solidFill>
                <a:latin typeface="Arial"/>
                <a:ea typeface="Arial"/>
                <a:cs typeface="Arial"/>
              </a:rPr>
              <a:t>Why this executor</a:t>
            </a:r>
          </a:p>
        </p:txBody>
      </p:sp>
      <p:sp>
        <p:nvSpPr>
          <p:cNvPr id="12" name="Local Qwen reads the evidence and explains the business implications.">
            <a:extLst>
              <a:ext uri="{FF2B5EF4-FFF2-40B4-BE49-F238E27FC236}">
                <a16:creationId xmlns:a16="http://schemas.microsoft.com/office/drawing/2014/main" id="{A4380A5D-7914-4E40-B4AC-A8610A70A789}"/>
              </a:ext>
            </a:extLst>
          </p:cNvPr>
          <p:cNvSpPr>
            <a:spLocks noGrp="1"/>
          </p:cNvSpPr>
          <p:nvPr/>
        </p:nvSpPr>
        <p:spPr>
          <a:xfrm>
            <a:off x="5493723" y="4402624"/>
            <a:ext cx="5957529" cy="327213"/>
          </a:xfrm>
          <a:prstGeom prst="rect">
            <a:avLst/>
          </a:prstGeom>
          <a:noFill/>
          <a:ln w="0">
            <a:noFill/>
          </a:ln>
        </p:spPr>
        <p:txBody>
          <a:bodyPr>
            <a:noAutofit/>
          </a:bodyPr>
          <a:lstStyle/>
          <a:p>
            <a:pPr>
              <a:defRPr sz="1199" b="0">
                <a:solidFill>
                  <a:srgbClr val="37352F"/>
                </a:solidFill>
                <a:latin typeface="Arial"/>
                <a:ea typeface="Arial"/>
                <a:cs typeface="Arial"/>
              </a:defRPr>
            </a:pPr>
            <a:r>
              <a:rPr sz="1199" b="0">
                <a:solidFill>
                  <a:srgbClr val="37352F"/>
                </a:solidFill>
                <a:latin typeface="Arial"/>
                <a:ea typeface="Arial"/>
                <a:cs typeface="Arial"/>
              </a:rPr>
              <a:t>Local Qwen reads the evidence and explains the business implications.</a:t>
            </a:r>
          </a:p>
        </p:txBody>
      </p:sp>
    </p:spTree>
    <p:extLst>
      <p:ext uri="{BB962C8B-B14F-4D97-AF65-F5344CB8AC3E}">
        <p14:creationId xmlns:p14="http://schemas.microsoft.com/office/powerpoint/2010/main" val="107963353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1999</Words>
  <Application>Microsoft Office PowerPoint</Application>
  <DocSecurity>0</DocSecurity>
  <PresentationFormat>Widescreen</PresentationFormat>
  <Paragraphs>125</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Anbang Zhu</cp:lastModifiedBy>
  <cp:revision>1</cp:revision>
  <dcterms:created xsi:type="dcterms:W3CDTF">2026-09-12T21:52:35Z</dcterms:created>
  <dcterms:modified xsi:type="dcterms:W3CDTF">2026-09-12T21:54:33Z</dcterms:modified>
</cp:coreProperties>
</file>